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1969" r:id="rId5"/>
    <p:sldId id="2012" r:id="rId6"/>
    <p:sldId id="2013" r:id="rId7"/>
    <p:sldId id="2037" r:id="rId8"/>
    <p:sldId id="2038" r:id="rId9"/>
    <p:sldId id="2039" r:id="rId10"/>
    <p:sldId id="2030" r:id="rId11"/>
    <p:sldId id="2033" r:id="rId12"/>
    <p:sldId id="2031" r:id="rId13"/>
    <p:sldId id="2034" r:id="rId14"/>
    <p:sldId id="2021" r:id="rId15"/>
    <p:sldId id="2035" r:id="rId16"/>
    <p:sldId id="2022" r:id="rId17"/>
    <p:sldId id="2036" r:id="rId18"/>
    <p:sldId id="2023" r:id="rId19"/>
    <p:sldId id="2040" r:id="rId20"/>
    <p:sldId id="2041" r:id="rId21"/>
    <p:sldId id="2042" r:id="rId22"/>
    <p:sldId id="2043" r:id="rId23"/>
    <p:sldId id="2044" r:id="rId24"/>
    <p:sldId id="2045" r:id="rId25"/>
    <p:sldId id="2046" r:id="rId26"/>
    <p:sldId id="2047" r:id="rId27"/>
  </p:sldIdLst>
  <p:sldSz cx="9144000" cy="5715000" type="screen16x10"/>
  <p:notesSz cx="6858000" cy="9872663"/>
  <p:defaultTextStyle>
    <a:defPPr>
      <a:defRPr lang="pt-BR"/>
    </a:defPPr>
    <a:lvl1pPr marL="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9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5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5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2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E0ABFDF0-A0B6-4D7E-A994-5F268A5D3EC8}">
          <p14:sldIdLst>
            <p14:sldId id="1969"/>
            <p14:sldId id="2012"/>
            <p14:sldId id="2013"/>
            <p14:sldId id="2037"/>
            <p14:sldId id="2038"/>
            <p14:sldId id="2039"/>
            <p14:sldId id="2030"/>
            <p14:sldId id="2033"/>
            <p14:sldId id="2031"/>
            <p14:sldId id="2034"/>
            <p14:sldId id="2021"/>
            <p14:sldId id="2035"/>
            <p14:sldId id="2022"/>
            <p14:sldId id="2036"/>
            <p14:sldId id="2023"/>
            <p14:sldId id="2040"/>
            <p14:sldId id="2041"/>
            <p14:sldId id="2042"/>
            <p14:sldId id="2043"/>
            <p14:sldId id="2044"/>
            <p14:sldId id="2045"/>
            <p14:sldId id="2046"/>
            <p14:sldId id="20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C5F359-4062-A34B-D1A2-A7CD8A20D7FE}" name="Luciana Muller Souza Coelho (SEPLAG)" initials="L(" userId="S::m1572745@ca.mg.gov.br::dc2c15f8-e2f0-4524-9b51-7007482321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BAAAF9-07FA-408C-9783-4349DECFB563}" v="1" dt="2025-12-16T17:23:42.496"/>
    <p1510:client id="{59D72508-BC7A-4CD0-A7F0-8FBDC4F8DEFC}" v="99" dt="2025-12-16T19:49:08.476"/>
    <p1510:client id="{64505067-F639-4E1E-B6B8-B2EE9D15B984}" v="828" dt="2025-12-16T23:59:24.430"/>
    <p1510:client id="{A2683F59-CF3D-405A-984C-C0C947C7AE4A}" v="2" dt="2025-12-16T23:26:15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48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55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úlio de Souza Gonzaga (SEPLAG)" userId="S::m1215286@ca.mg.gov.br::2104a7e4-b013-40a4-9921-789dc66ad26b" providerId="AD" clId="Web-{2BBAAAF9-07FA-408C-9783-4349DECFB563}"/>
    <pc:docChg chg="delSld modSection">
      <pc:chgData name="Túlio de Souza Gonzaga (SEPLAG)" userId="S::m1215286@ca.mg.gov.br::2104a7e4-b013-40a4-9921-789dc66ad26b" providerId="AD" clId="Web-{2BBAAAF9-07FA-408C-9783-4349DECFB563}" dt="2025-12-16T17:23:42.496" v="0"/>
      <pc:docMkLst>
        <pc:docMk/>
      </pc:docMkLst>
      <pc:sldChg chg="del">
        <pc:chgData name="Túlio de Souza Gonzaga (SEPLAG)" userId="S::m1215286@ca.mg.gov.br::2104a7e4-b013-40a4-9921-789dc66ad26b" providerId="AD" clId="Web-{2BBAAAF9-07FA-408C-9783-4349DECFB563}" dt="2025-12-16T17:23:42.496" v="0"/>
        <pc:sldMkLst>
          <pc:docMk/>
          <pc:sldMk cId="722194006" sldId="1965"/>
        </pc:sldMkLst>
      </pc:sldChg>
    </pc:docChg>
  </pc:docChgLst>
  <pc:docChgLst>
    <pc:chgData name="Luciana Muller Souza Coelho (SEPLAG)" userId="S::m1572745@ca.mg.gov.br::dc2c15f8-e2f0-4524-9b51-7007482321f6" providerId="AD" clId="Web-{A100DFE5-EFBF-9845-1C0C-316DDEE60FA8}"/>
    <pc:docChg chg="modSld">
      <pc:chgData name="Luciana Muller Souza Coelho (SEPLAG)" userId="S::m1572745@ca.mg.gov.br::dc2c15f8-e2f0-4524-9b51-7007482321f6" providerId="AD" clId="Web-{A100DFE5-EFBF-9845-1C0C-316DDEE60FA8}" dt="2025-11-24T17:36:07.741" v="236" actId="20577"/>
      <pc:docMkLst>
        <pc:docMk/>
      </pc:docMkLst>
    </pc:docChg>
  </pc:docChgLst>
  <pc:docChgLst>
    <pc:chgData name="Pedro Lucas Fonseca Braga (SEPLAG)" userId="S::m7526734@ca.mg.gov.br::e4244e2a-73da-425b-8f84-61f61d34c1ac" providerId="AD" clId="Web-{A2683F59-CF3D-405A-984C-C0C947C7AE4A}"/>
    <pc:docChg chg="modSld">
      <pc:chgData name="Pedro Lucas Fonseca Braga (SEPLAG)" userId="S::m7526734@ca.mg.gov.br::e4244e2a-73da-425b-8f84-61f61d34c1ac" providerId="AD" clId="Web-{A2683F59-CF3D-405A-984C-C0C947C7AE4A}" dt="2025-12-16T23:26:15.214" v="1" actId="1076"/>
      <pc:docMkLst>
        <pc:docMk/>
      </pc:docMkLst>
      <pc:sldChg chg="modSp">
        <pc:chgData name="Pedro Lucas Fonseca Braga (SEPLAG)" userId="S::m7526734@ca.mg.gov.br::e4244e2a-73da-425b-8f84-61f61d34c1ac" providerId="AD" clId="Web-{A2683F59-CF3D-405A-984C-C0C947C7AE4A}" dt="2025-12-16T23:26:15.214" v="1" actId="1076"/>
        <pc:sldMkLst>
          <pc:docMk/>
          <pc:sldMk cId="43148434" sldId="1992"/>
        </pc:sldMkLst>
        <pc:spChg chg="mod">
          <ac:chgData name="Pedro Lucas Fonseca Braga (SEPLAG)" userId="S::m7526734@ca.mg.gov.br::e4244e2a-73da-425b-8f84-61f61d34c1ac" providerId="AD" clId="Web-{A2683F59-CF3D-405A-984C-C0C947C7AE4A}" dt="2025-12-16T23:26:11.292" v="0" actId="1076"/>
          <ac:spMkLst>
            <pc:docMk/>
            <pc:sldMk cId="43148434" sldId="1992"/>
            <ac:spMk id="3" creationId="{00000000-0000-0000-0000-000000000000}"/>
          </ac:spMkLst>
        </pc:spChg>
        <pc:picChg chg="mod">
          <ac:chgData name="Pedro Lucas Fonseca Braga (SEPLAG)" userId="S::m7526734@ca.mg.gov.br::e4244e2a-73da-425b-8f84-61f61d34c1ac" providerId="AD" clId="Web-{A2683F59-CF3D-405A-984C-C0C947C7AE4A}" dt="2025-12-16T23:26:15.214" v="1" actId="1076"/>
          <ac:picMkLst>
            <pc:docMk/>
            <pc:sldMk cId="43148434" sldId="1992"/>
            <ac:picMk id="2" creationId="{00000000-0000-0000-0000-000000000000}"/>
          </ac:picMkLst>
        </pc:picChg>
      </pc:sldChg>
    </pc:docChg>
  </pc:docChgLst>
  <pc:docChgLst>
    <pc:chgData name="Luciana Muller Souza Coelho (SEPLAG)" userId="S::m1572745@ca.mg.gov.br::dc2c15f8-e2f0-4524-9b51-7007482321f6" providerId="AD" clId="Web-{5439DDF1-9DDC-55F7-E2EE-0F246591FBA9}"/>
    <pc:docChg chg="modSld">
      <pc:chgData name="Luciana Muller Souza Coelho (SEPLAG)" userId="S::m1572745@ca.mg.gov.br::dc2c15f8-e2f0-4524-9b51-7007482321f6" providerId="AD" clId="Web-{5439DDF1-9DDC-55F7-E2EE-0F246591FBA9}" dt="2025-11-24T17:40:35.184" v="8" actId="20577"/>
      <pc:docMkLst>
        <pc:docMk/>
      </pc:docMkLst>
    </pc:docChg>
  </pc:docChgLst>
  <pc:docChgLst>
    <pc:chgData name="Pedro Lucas Fonseca Braga (SEPLAG)" userId="S::m7526734@ca.mg.gov.br::e4244e2a-73da-425b-8f84-61f61d34c1ac" providerId="AD" clId="Web-{59D72508-BC7A-4CD0-A7F0-8FBDC4F8DEFC}"/>
    <pc:docChg chg="addSld modSld sldOrd modSection">
      <pc:chgData name="Pedro Lucas Fonseca Braga (SEPLAG)" userId="S::m7526734@ca.mg.gov.br::e4244e2a-73da-425b-8f84-61f61d34c1ac" providerId="AD" clId="Web-{59D72508-BC7A-4CD0-A7F0-8FBDC4F8DEFC}" dt="2025-12-16T19:49:08.476" v="59" actId="14100"/>
      <pc:docMkLst>
        <pc:docMk/>
      </pc:docMkLst>
      <pc:sldChg chg="ord">
        <pc:chgData name="Pedro Lucas Fonseca Braga (SEPLAG)" userId="S::m7526734@ca.mg.gov.br::e4244e2a-73da-425b-8f84-61f61d34c1ac" providerId="AD" clId="Web-{59D72508-BC7A-4CD0-A7F0-8FBDC4F8DEFC}" dt="2025-12-16T19:44:05.405" v="0"/>
        <pc:sldMkLst>
          <pc:docMk/>
          <pc:sldMk cId="43148434" sldId="1992"/>
        </pc:sldMkLst>
      </pc:sldChg>
      <pc:sldChg chg="addSp delSp modSp add ord replId modNotes">
        <pc:chgData name="Pedro Lucas Fonseca Braga (SEPLAG)" userId="S::m7526734@ca.mg.gov.br::e4244e2a-73da-425b-8f84-61f61d34c1ac" providerId="AD" clId="Web-{59D72508-BC7A-4CD0-A7F0-8FBDC4F8DEFC}" dt="2025-12-16T19:49:08.476" v="59" actId="14100"/>
        <pc:sldMkLst>
          <pc:docMk/>
          <pc:sldMk cId="3491625448" sldId="1997"/>
        </pc:sldMkLst>
        <pc:spChg chg="mod">
          <ac:chgData name="Pedro Lucas Fonseca Braga (SEPLAG)" userId="S::m7526734@ca.mg.gov.br::e4244e2a-73da-425b-8f84-61f61d34c1ac" providerId="AD" clId="Web-{59D72508-BC7A-4CD0-A7F0-8FBDC4F8DEFC}" dt="2025-12-16T19:45:30.736" v="49" actId="20577"/>
          <ac:spMkLst>
            <pc:docMk/>
            <pc:sldMk cId="3491625448" sldId="1997"/>
            <ac:spMk id="3" creationId="{F770CE6D-35B1-000C-3F37-BD1E00300801}"/>
          </ac:spMkLst>
        </pc:spChg>
        <pc:picChg chg="del">
          <ac:chgData name="Pedro Lucas Fonseca Braga (SEPLAG)" userId="S::m7526734@ca.mg.gov.br::e4244e2a-73da-425b-8f84-61f61d34c1ac" providerId="AD" clId="Web-{59D72508-BC7A-4CD0-A7F0-8FBDC4F8DEFC}" dt="2025-12-16T19:44:43.157" v="3"/>
          <ac:picMkLst>
            <pc:docMk/>
            <pc:sldMk cId="3491625448" sldId="1997"/>
            <ac:picMk id="2" creationId="{AEC67A89-010D-9E78-3747-43A9907F32F8}"/>
          </ac:picMkLst>
        </pc:picChg>
        <pc:picChg chg="add mod">
          <ac:chgData name="Pedro Lucas Fonseca Braga (SEPLAG)" userId="S::m7526734@ca.mg.gov.br::e4244e2a-73da-425b-8f84-61f61d34c1ac" providerId="AD" clId="Web-{59D72508-BC7A-4CD0-A7F0-8FBDC4F8DEFC}" dt="2025-12-16T19:49:08.476" v="59" actId="14100"/>
          <ac:picMkLst>
            <pc:docMk/>
            <pc:sldMk cId="3491625448" sldId="1997"/>
            <ac:picMk id="6" creationId="{06F548A1-BDE8-6786-C3B3-F51E19F64964}"/>
          </ac:picMkLst>
        </pc:picChg>
      </pc:sldChg>
    </pc:docChg>
  </pc:docChgLst>
  <pc:docChgLst>
    <pc:chgData name="Pedro Lucas Fonseca Braga (SEPLAG)" userId="S::m7526734@ca.mg.gov.br::e4244e2a-73da-425b-8f84-61f61d34c1ac" providerId="AD" clId="Web-{64505067-F639-4E1E-B6B8-B2EE9D15B984}"/>
    <pc:docChg chg="modSld sldOrd">
      <pc:chgData name="Pedro Lucas Fonseca Braga (SEPLAG)" userId="S::m7526734@ca.mg.gov.br::e4244e2a-73da-425b-8f84-61f61d34c1ac" providerId="AD" clId="Web-{64505067-F639-4E1E-B6B8-B2EE9D15B984}" dt="2025-12-16T23:59:24.133" v="461" actId="20577"/>
      <pc:docMkLst>
        <pc:docMk/>
      </pc:docMkLst>
      <pc:sldChg chg="ord">
        <pc:chgData name="Pedro Lucas Fonseca Braga (SEPLAG)" userId="S::m7526734@ca.mg.gov.br::e4244e2a-73da-425b-8f84-61f61d34c1ac" providerId="AD" clId="Web-{64505067-F639-4E1E-B6B8-B2EE9D15B984}" dt="2025-12-16T23:44:53.467" v="215"/>
        <pc:sldMkLst>
          <pc:docMk/>
          <pc:sldMk cId="3821574573" sldId="1972"/>
        </pc:sldMkLst>
      </pc:sldChg>
      <pc:sldChg chg="modSp">
        <pc:chgData name="Pedro Lucas Fonseca Braga (SEPLAG)" userId="S::m7526734@ca.mg.gov.br::e4244e2a-73da-425b-8f84-61f61d34c1ac" providerId="AD" clId="Web-{64505067-F639-4E1E-B6B8-B2EE9D15B984}" dt="2025-12-16T23:45:18.360" v="218" actId="1076"/>
        <pc:sldMkLst>
          <pc:docMk/>
          <pc:sldMk cId="934402395" sldId="1980"/>
        </pc:sldMkLst>
        <pc:spChg chg="mod">
          <ac:chgData name="Pedro Lucas Fonseca Braga (SEPLAG)" userId="S::m7526734@ca.mg.gov.br::e4244e2a-73da-425b-8f84-61f61d34c1ac" providerId="AD" clId="Web-{64505067-F639-4E1E-B6B8-B2EE9D15B984}" dt="2025-12-16T23:45:18.360" v="218" actId="1076"/>
          <ac:spMkLst>
            <pc:docMk/>
            <pc:sldMk cId="934402395" sldId="1980"/>
            <ac:spMk id="3" creationId="{00000000-0000-0000-0000-000000000000}"/>
          </ac:spMkLst>
        </pc:spChg>
        <pc:spChg chg="mod">
          <ac:chgData name="Pedro Lucas Fonseca Braga (SEPLAG)" userId="S::m7526734@ca.mg.gov.br::e4244e2a-73da-425b-8f84-61f61d34c1ac" providerId="AD" clId="Web-{64505067-F639-4E1E-B6B8-B2EE9D15B984}" dt="2025-12-16T23:45:13.719" v="216" actId="1076"/>
          <ac:spMkLst>
            <pc:docMk/>
            <pc:sldMk cId="934402395" sldId="1980"/>
            <ac:spMk id="5" creationId="{00000000-0000-0000-0000-000000000000}"/>
          </ac:spMkLst>
        </pc:spChg>
        <pc:cxnChg chg="mod">
          <ac:chgData name="Pedro Lucas Fonseca Braga (SEPLAG)" userId="S::m7526734@ca.mg.gov.br::e4244e2a-73da-425b-8f84-61f61d34c1ac" providerId="AD" clId="Web-{64505067-F639-4E1E-B6B8-B2EE9D15B984}" dt="2025-12-16T23:45:16.376" v="217" actId="1076"/>
          <ac:cxnSpMkLst>
            <pc:docMk/>
            <pc:sldMk cId="934402395" sldId="1980"/>
            <ac:cxnSpMk id="4" creationId="{00000000-0000-0000-0000-000000000000}"/>
          </ac:cxnSpMkLst>
        </pc:cxnChg>
      </pc:sldChg>
      <pc:sldChg chg="modSp">
        <pc:chgData name="Pedro Lucas Fonseca Braga (SEPLAG)" userId="S::m7526734@ca.mg.gov.br::e4244e2a-73da-425b-8f84-61f61d34c1ac" providerId="AD" clId="Web-{64505067-F639-4E1E-B6B8-B2EE9D15B984}" dt="2025-12-16T23:46:10.370" v="240" actId="20577"/>
        <pc:sldMkLst>
          <pc:docMk/>
          <pc:sldMk cId="2274910854" sldId="1982"/>
        </pc:sldMkLst>
        <pc:spChg chg="mod">
          <ac:chgData name="Pedro Lucas Fonseca Braga (SEPLAG)" userId="S::m7526734@ca.mg.gov.br::e4244e2a-73da-425b-8f84-61f61d34c1ac" providerId="AD" clId="Web-{64505067-F639-4E1E-B6B8-B2EE9D15B984}" dt="2025-12-16T23:46:10.370" v="240" actId="20577"/>
          <ac:spMkLst>
            <pc:docMk/>
            <pc:sldMk cId="2274910854" sldId="1982"/>
            <ac:spMk id="9" creationId="{0AE44A3E-E1B2-09CE-61E9-C39AC6044D27}"/>
          </ac:spMkLst>
        </pc:spChg>
      </pc:sldChg>
      <pc:sldChg chg="modSp">
        <pc:chgData name="Pedro Lucas Fonseca Braga (SEPLAG)" userId="S::m7526734@ca.mg.gov.br::e4244e2a-73da-425b-8f84-61f61d34c1ac" providerId="AD" clId="Web-{64505067-F639-4E1E-B6B8-B2EE9D15B984}" dt="2025-12-16T23:46:54.108" v="252" actId="20577"/>
        <pc:sldMkLst>
          <pc:docMk/>
          <pc:sldMk cId="3157814680" sldId="1983"/>
        </pc:sldMkLst>
        <pc:spChg chg="mod">
          <ac:chgData name="Pedro Lucas Fonseca Braga (SEPLAG)" userId="S::m7526734@ca.mg.gov.br::e4244e2a-73da-425b-8f84-61f61d34c1ac" providerId="AD" clId="Web-{64505067-F639-4E1E-B6B8-B2EE9D15B984}" dt="2025-12-16T23:46:54.108" v="252" actId="20577"/>
          <ac:spMkLst>
            <pc:docMk/>
            <pc:sldMk cId="3157814680" sldId="1983"/>
            <ac:spMk id="9" creationId="{0AE44A3E-E1B2-09CE-61E9-C39AC6044D27}"/>
          </ac:spMkLst>
        </pc:spChg>
      </pc:sldChg>
      <pc:sldChg chg="modSp">
        <pc:chgData name="Pedro Lucas Fonseca Braga (SEPLAG)" userId="S::m7526734@ca.mg.gov.br::e4244e2a-73da-425b-8f84-61f61d34c1ac" providerId="AD" clId="Web-{64505067-F639-4E1E-B6B8-B2EE9D15B984}" dt="2025-12-16T23:52:29.937" v="369" actId="20577"/>
        <pc:sldMkLst>
          <pc:docMk/>
          <pc:sldMk cId="4142269159" sldId="1984"/>
        </pc:sldMkLst>
        <pc:spChg chg="mod">
          <ac:chgData name="Pedro Lucas Fonseca Braga (SEPLAG)" userId="S::m7526734@ca.mg.gov.br::e4244e2a-73da-425b-8f84-61f61d34c1ac" providerId="AD" clId="Web-{64505067-F639-4E1E-B6B8-B2EE9D15B984}" dt="2025-12-16T23:52:29.937" v="369" actId="20577"/>
          <ac:spMkLst>
            <pc:docMk/>
            <pc:sldMk cId="4142269159" sldId="1984"/>
            <ac:spMk id="3" creationId="{00000000-0000-0000-0000-000000000000}"/>
          </ac:spMkLst>
        </pc:spChg>
      </pc:sldChg>
      <pc:sldChg chg="modSp">
        <pc:chgData name="Pedro Lucas Fonseca Braga (SEPLAG)" userId="S::m7526734@ca.mg.gov.br::e4244e2a-73da-425b-8f84-61f61d34c1ac" providerId="AD" clId="Web-{64505067-F639-4E1E-B6B8-B2EE9D15B984}" dt="2025-12-16T23:53:23.720" v="381" actId="20577"/>
        <pc:sldMkLst>
          <pc:docMk/>
          <pc:sldMk cId="1546217562" sldId="1985"/>
        </pc:sldMkLst>
        <pc:spChg chg="mod">
          <ac:chgData name="Pedro Lucas Fonseca Braga (SEPLAG)" userId="S::m7526734@ca.mg.gov.br::e4244e2a-73da-425b-8f84-61f61d34c1ac" providerId="AD" clId="Web-{64505067-F639-4E1E-B6B8-B2EE9D15B984}" dt="2025-12-16T23:53:23.720" v="381" actId="20577"/>
          <ac:spMkLst>
            <pc:docMk/>
            <pc:sldMk cId="1546217562" sldId="1985"/>
            <ac:spMk id="3" creationId="{00000000-0000-0000-0000-000000000000}"/>
          </ac:spMkLst>
        </pc:spChg>
      </pc:sldChg>
      <pc:sldChg chg="modSp">
        <pc:chgData name="Pedro Lucas Fonseca Braga (SEPLAG)" userId="S::m7526734@ca.mg.gov.br::e4244e2a-73da-425b-8f84-61f61d34c1ac" providerId="AD" clId="Web-{64505067-F639-4E1E-B6B8-B2EE9D15B984}" dt="2025-12-16T23:53:55.142" v="383" actId="20577"/>
        <pc:sldMkLst>
          <pc:docMk/>
          <pc:sldMk cId="1073862416" sldId="1986"/>
        </pc:sldMkLst>
        <pc:spChg chg="mod">
          <ac:chgData name="Pedro Lucas Fonseca Braga (SEPLAG)" userId="S::m7526734@ca.mg.gov.br::e4244e2a-73da-425b-8f84-61f61d34c1ac" providerId="AD" clId="Web-{64505067-F639-4E1E-B6B8-B2EE9D15B984}" dt="2025-12-16T23:53:55.142" v="383" actId="20577"/>
          <ac:spMkLst>
            <pc:docMk/>
            <pc:sldMk cId="1073862416" sldId="1986"/>
            <ac:spMk id="3" creationId="{00000000-0000-0000-0000-000000000000}"/>
          </ac:spMkLst>
        </pc:spChg>
      </pc:sldChg>
      <pc:sldChg chg="modSp">
        <pc:chgData name="Pedro Lucas Fonseca Braga (SEPLAG)" userId="S::m7526734@ca.mg.gov.br::e4244e2a-73da-425b-8f84-61f61d34c1ac" providerId="AD" clId="Web-{64505067-F639-4E1E-B6B8-B2EE9D15B984}" dt="2025-12-16T23:54:29.143" v="389" actId="1076"/>
        <pc:sldMkLst>
          <pc:docMk/>
          <pc:sldMk cId="611360487" sldId="1987"/>
        </pc:sldMkLst>
        <pc:spChg chg="mod">
          <ac:chgData name="Pedro Lucas Fonseca Braga (SEPLAG)" userId="S::m7526734@ca.mg.gov.br::e4244e2a-73da-425b-8f84-61f61d34c1ac" providerId="AD" clId="Web-{64505067-F639-4E1E-B6B8-B2EE9D15B984}" dt="2025-12-16T23:54:26.799" v="388" actId="20577"/>
          <ac:spMkLst>
            <pc:docMk/>
            <pc:sldMk cId="611360487" sldId="1987"/>
            <ac:spMk id="3" creationId="{00000000-0000-0000-0000-000000000000}"/>
          </ac:spMkLst>
        </pc:spChg>
        <pc:picChg chg="mod">
          <ac:chgData name="Pedro Lucas Fonseca Braga (SEPLAG)" userId="S::m7526734@ca.mg.gov.br::e4244e2a-73da-425b-8f84-61f61d34c1ac" providerId="AD" clId="Web-{64505067-F639-4E1E-B6B8-B2EE9D15B984}" dt="2025-12-16T23:54:29.143" v="389" actId="1076"/>
          <ac:picMkLst>
            <pc:docMk/>
            <pc:sldMk cId="611360487" sldId="1987"/>
            <ac:picMk id="6" creationId="{00000000-0000-0000-0000-000000000000}"/>
          </ac:picMkLst>
        </pc:picChg>
      </pc:sldChg>
      <pc:sldChg chg="modSp">
        <pc:chgData name="Pedro Lucas Fonseca Braga (SEPLAG)" userId="S::m7526734@ca.mg.gov.br::e4244e2a-73da-425b-8f84-61f61d34c1ac" providerId="AD" clId="Web-{64505067-F639-4E1E-B6B8-B2EE9D15B984}" dt="2025-12-16T23:54:52.737" v="390" actId="1076"/>
        <pc:sldMkLst>
          <pc:docMk/>
          <pc:sldMk cId="612627253" sldId="1991"/>
        </pc:sldMkLst>
        <pc:picChg chg="mod">
          <ac:chgData name="Pedro Lucas Fonseca Braga (SEPLAG)" userId="S::m7526734@ca.mg.gov.br::e4244e2a-73da-425b-8f84-61f61d34c1ac" providerId="AD" clId="Web-{64505067-F639-4E1E-B6B8-B2EE9D15B984}" dt="2025-12-16T23:54:52.737" v="390" actId="1076"/>
          <ac:picMkLst>
            <pc:docMk/>
            <pc:sldMk cId="612627253" sldId="1991"/>
            <ac:picMk id="2" creationId="{00000000-0000-0000-0000-000000000000}"/>
          </ac:picMkLst>
        </pc:picChg>
      </pc:sldChg>
      <pc:sldChg chg="modSp">
        <pc:chgData name="Pedro Lucas Fonseca Braga (SEPLAG)" userId="S::m7526734@ca.mg.gov.br::e4244e2a-73da-425b-8f84-61f61d34c1ac" providerId="AD" clId="Web-{64505067-F639-4E1E-B6B8-B2EE9D15B984}" dt="2025-12-16T23:44:17.872" v="213" actId="1076"/>
        <pc:sldMkLst>
          <pc:docMk/>
          <pc:sldMk cId="43148434" sldId="1992"/>
        </pc:sldMkLst>
        <pc:spChg chg="mod">
          <ac:chgData name="Pedro Lucas Fonseca Braga (SEPLAG)" userId="S::m7526734@ca.mg.gov.br::e4244e2a-73da-425b-8f84-61f61d34c1ac" providerId="AD" clId="Web-{64505067-F639-4E1E-B6B8-B2EE9D15B984}" dt="2025-12-16T23:44:11.934" v="211" actId="20577"/>
          <ac:spMkLst>
            <pc:docMk/>
            <pc:sldMk cId="43148434" sldId="1992"/>
            <ac:spMk id="3" creationId="{00000000-0000-0000-0000-000000000000}"/>
          </ac:spMkLst>
        </pc:spChg>
        <pc:picChg chg="mod">
          <ac:chgData name="Pedro Lucas Fonseca Braga (SEPLAG)" userId="S::m7526734@ca.mg.gov.br::e4244e2a-73da-425b-8f84-61f61d34c1ac" providerId="AD" clId="Web-{64505067-F639-4E1E-B6B8-B2EE9D15B984}" dt="2025-12-16T23:44:17.872" v="213" actId="1076"/>
          <ac:picMkLst>
            <pc:docMk/>
            <pc:sldMk cId="43148434" sldId="1992"/>
            <ac:picMk id="2" creationId="{00000000-0000-0000-0000-000000000000}"/>
          </ac:picMkLst>
        </pc:picChg>
      </pc:sldChg>
      <pc:sldChg chg="delSp modSp">
        <pc:chgData name="Pedro Lucas Fonseca Braga (SEPLAG)" userId="S::m7526734@ca.mg.gov.br::e4244e2a-73da-425b-8f84-61f61d34c1ac" providerId="AD" clId="Web-{64505067-F639-4E1E-B6B8-B2EE9D15B984}" dt="2025-12-16T23:59:24.133" v="461" actId="20577"/>
        <pc:sldMkLst>
          <pc:docMk/>
          <pc:sldMk cId="2417011836" sldId="1993"/>
        </pc:sldMkLst>
        <pc:spChg chg="mod">
          <ac:chgData name="Pedro Lucas Fonseca Braga (SEPLAG)" userId="S::m7526734@ca.mg.gov.br::e4244e2a-73da-425b-8f84-61f61d34c1ac" providerId="AD" clId="Web-{64505067-F639-4E1E-B6B8-B2EE9D15B984}" dt="2025-12-16T23:59:24.133" v="461" actId="20577"/>
          <ac:spMkLst>
            <pc:docMk/>
            <pc:sldMk cId="2417011836" sldId="1993"/>
            <ac:spMk id="3" creationId="{00000000-0000-0000-0000-000000000000}"/>
          </ac:spMkLst>
        </pc:spChg>
        <pc:graphicFrameChg chg="del">
          <ac:chgData name="Pedro Lucas Fonseca Braga (SEPLAG)" userId="S::m7526734@ca.mg.gov.br::e4244e2a-73da-425b-8f84-61f61d34c1ac" providerId="AD" clId="Web-{64505067-F639-4E1E-B6B8-B2EE9D15B984}" dt="2025-12-16T23:57:21.646" v="433"/>
          <ac:graphicFrameMkLst>
            <pc:docMk/>
            <pc:sldMk cId="2417011836" sldId="1993"/>
            <ac:graphicFrameMk id="11" creationId="{00000000-0000-0000-0000-000000000000}"/>
          </ac:graphicFrameMkLst>
        </pc:graphicFrameChg>
        <pc:graphicFrameChg chg="del">
          <ac:chgData name="Pedro Lucas Fonseca Braga (SEPLAG)" userId="S::m7526734@ca.mg.gov.br::e4244e2a-73da-425b-8f84-61f61d34c1ac" providerId="AD" clId="Web-{64505067-F639-4E1E-B6B8-B2EE9D15B984}" dt="2025-12-16T23:57:20.053" v="432"/>
          <ac:graphicFrameMkLst>
            <pc:docMk/>
            <pc:sldMk cId="2417011836" sldId="1993"/>
            <ac:graphicFrameMk id="12" creationId="{00000000-0000-0000-0000-000000000000}"/>
          </ac:graphicFrameMkLst>
        </pc:graphicFrameChg>
        <pc:graphicFrameChg chg="del">
          <ac:chgData name="Pedro Lucas Fonseca Braga (SEPLAG)" userId="S::m7526734@ca.mg.gov.br::e4244e2a-73da-425b-8f84-61f61d34c1ac" providerId="AD" clId="Web-{64505067-F639-4E1E-B6B8-B2EE9D15B984}" dt="2025-12-16T23:57:18.599" v="431"/>
          <ac:graphicFrameMkLst>
            <pc:docMk/>
            <pc:sldMk cId="2417011836" sldId="1993"/>
            <ac:graphicFrameMk id="13" creationId="{00000000-0000-0000-0000-000000000000}"/>
          </ac:graphicFrameMkLst>
        </pc:graphicFrameChg>
      </pc:sldChg>
      <pc:sldChg chg="modSp">
        <pc:chgData name="Pedro Lucas Fonseca Braga (SEPLAG)" userId="S::m7526734@ca.mg.gov.br::e4244e2a-73da-425b-8f84-61f61d34c1ac" providerId="AD" clId="Web-{64505067-F639-4E1E-B6B8-B2EE9D15B984}" dt="2025-12-16T23:56:53.505" v="430" actId="20577"/>
        <pc:sldMkLst>
          <pc:docMk/>
          <pc:sldMk cId="3852067735" sldId="1994"/>
        </pc:sldMkLst>
        <pc:spChg chg="mod">
          <ac:chgData name="Pedro Lucas Fonseca Braga (SEPLAG)" userId="S::m7526734@ca.mg.gov.br::e4244e2a-73da-425b-8f84-61f61d34c1ac" providerId="AD" clId="Web-{64505067-F639-4E1E-B6B8-B2EE9D15B984}" dt="2025-12-16T23:56:53.505" v="430" actId="20577"/>
          <ac:spMkLst>
            <pc:docMk/>
            <pc:sldMk cId="3852067735" sldId="1994"/>
            <ac:spMk id="3" creationId="{00000000-0000-0000-0000-000000000000}"/>
          </ac:spMkLst>
        </pc:spChg>
        <pc:spChg chg="mod">
          <ac:chgData name="Pedro Lucas Fonseca Braga (SEPLAG)" userId="S::m7526734@ca.mg.gov.br::e4244e2a-73da-425b-8f84-61f61d34c1ac" providerId="AD" clId="Web-{64505067-F639-4E1E-B6B8-B2EE9D15B984}" dt="2025-12-16T23:54:59.097" v="391" actId="1076"/>
          <ac:spMkLst>
            <pc:docMk/>
            <pc:sldMk cId="3852067735" sldId="1994"/>
            <ac:spMk id="5" creationId="{00000000-0000-0000-0000-000000000000}"/>
          </ac:spMkLst>
        </pc:spChg>
        <pc:cxnChg chg="mod">
          <ac:chgData name="Pedro Lucas Fonseca Braga (SEPLAG)" userId="S::m7526734@ca.mg.gov.br::e4244e2a-73da-425b-8f84-61f61d34c1ac" providerId="AD" clId="Web-{64505067-F639-4E1E-B6B8-B2EE9D15B984}" dt="2025-12-16T23:55:01.956" v="392" actId="1076"/>
          <ac:cxnSpMkLst>
            <pc:docMk/>
            <pc:sldMk cId="3852067735" sldId="1994"/>
            <ac:cxnSpMk id="4" creationId="{00000000-0000-0000-0000-000000000000}"/>
          </ac:cxnSpMkLst>
        </pc:cxnChg>
      </pc:sldChg>
      <pc:sldChg chg="modSp">
        <pc:chgData name="Pedro Lucas Fonseca Braga (SEPLAG)" userId="S::m7526734@ca.mg.gov.br::e4244e2a-73da-425b-8f84-61f61d34c1ac" providerId="AD" clId="Web-{64505067-F639-4E1E-B6B8-B2EE9D15B984}" dt="2025-12-16T23:44:35.528" v="214" actId="20577"/>
        <pc:sldMkLst>
          <pc:docMk/>
          <pc:sldMk cId="3511919339" sldId="1996"/>
        </pc:sldMkLst>
        <pc:spChg chg="mod">
          <ac:chgData name="Pedro Lucas Fonseca Braga (SEPLAG)" userId="S::m7526734@ca.mg.gov.br::e4244e2a-73da-425b-8f84-61f61d34c1ac" providerId="AD" clId="Web-{64505067-F639-4E1E-B6B8-B2EE9D15B984}" dt="2025-12-16T23:44:35.528" v="214" actId="20577"/>
          <ac:spMkLst>
            <pc:docMk/>
            <pc:sldMk cId="3511919339" sldId="199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6671-8C80-4EF4-B4E2-42C9392A30B7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751219"/>
            <a:ext cx="548640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7318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9377318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43DB2-8030-405F-9866-85AE58B6CC2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48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09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25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35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42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7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C43DB2-8030-405F-9866-85AE58B6CC23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620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1190.01.0005174/2023-04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844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3337-E96B-3522-4BDF-FE61540E6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039F7BB-1462-70EA-BEB7-3F2340C14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A14E3C-14AE-1A58-D420-A71B075BC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Observação: a variação da segunda tabela, que compara os tetos de gasto, reflete não apenas a redução do IPCA entre os períodos, mas também a alteração de metodologia exposta no slide anterior.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C21FA9-F6F8-F669-A3A5-F80965B99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780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3337-E96B-3522-4BDF-FE61540E6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039F7BB-1462-70EA-BEB7-3F2340C14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A14E3C-14AE-1A58-D420-A71B075BC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Observação: a variação da segunda tabela, que compara os tetos de gasto, reflete não apenas a redução do IPCA entre os períodos, mas também a alteração de metodologia exposta no slide anterior.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C21FA9-F6F8-F669-A3A5-F80965B99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817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3337-E96B-3522-4BDF-FE61540E6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039F7BB-1462-70EA-BEB7-3F2340C14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A14E3C-14AE-1A58-D420-A71B075BC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Observação: a variação da segunda tabela, que compara os tetos de gasto, reflete não apenas a redução do IPCA entre os períodos, mas também a alteração de metodologia exposta no slide anterior.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C21FA9-F6F8-F669-A3A5-F80965B99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338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1190.01.0005174/2023-04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044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1190.01.0005174/2023-04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3432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1190.01.0005174/2023-04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738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1190.01.0005174/2023-04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064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2105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4319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1190.01.0005174/2023-04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7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1190.01.0005174/2023-04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478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1190.01.0005174/2023-04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340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C43DB2-8030-405F-9866-85AE58B6CC23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336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D71C-C7B9-CD37-95A6-AA8E28BB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B5C421-90C8-4F4C-3495-C39BB4984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C0938A-6DFF-272F-DC3A-805E10544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1400.01.0085114/2025-21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E91C73-B9A3-5E9E-46C4-3A077C42F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F6DEFE-2DE4-4B38-A3BC-FAEDA1FA58F0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4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Processo nº 2420.01.0000607/2025-57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903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1450.01.0176006/2025-18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F6DEFE-2DE4-4B38-A3BC-FAEDA1FA58F0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46554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Processo nº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2930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CF8EB72-ACF5-A590-BAB0-790769B8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759F3196-0240-280E-1F11-368BFB378C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69900" y="1235075"/>
            <a:ext cx="5918200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31BD714E-252C-F715-FDA9-D45709D96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2350.01.0002220/2020-23 – Natalia 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>
            <a:extLst>
              <a:ext uri="{FF2B5EF4-FFF2-40B4-BE49-F238E27FC236}">
                <a16:creationId xmlns:a16="http://schemas.microsoft.com/office/drawing/2014/main" id="{F948BB57-6A6D-FB19-BA94-24502D30AB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87810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7834FDE-D6CB-B668-44B7-3C43E7823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F90637D4-4D70-9181-E66B-6C64D9C053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69900" y="1235075"/>
            <a:ext cx="5918200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F2519D9C-3CEA-8574-F473-9EE12140C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2350.01.0002220/2020-23 – Natalia 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>
            <a:extLst>
              <a:ext uri="{FF2B5EF4-FFF2-40B4-BE49-F238E27FC236}">
                <a16:creationId xmlns:a16="http://schemas.microsoft.com/office/drawing/2014/main" id="{478E24F9-9734-8F80-ABF4-1C6C54D511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7356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775360"/>
            <a:ext cx="7772400" cy="1225021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lIns="91421" tIns="45710" rIns="91421" bIns="45710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672419"/>
            <a:ext cx="7772400" cy="1135063"/>
          </a:xfrm>
          <a:prstGeom prst="rect">
            <a:avLst/>
          </a:prstGeom>
        </p:spPr>
        <p:txBody>
          <a:bodyPr lIns="91421" tIns="45710" rIns="91421" bIns="45710"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  <a:prstGeom prst="rect">
            <a:avLst/>
          </a:prstGeom>
        </p:spPr>
        <p:txBody>
          <a:bodyPr lIns="91421" tIns="45710" rIns="91421" bIns="45710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79263"/>
            <a:ext cx="4040188" cy="533135"/>
          </a:xfrm>
          <a:prstGeom prst="rect">
            <a:avLst/>
          </a:prstGeom>
        </p:spPr>
        <p:txBody>
          <a:bodyPr lIns="91421" tIns="45710" rIns="91421" bIns="45710"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8" indent="0">
              <a:buNone/>
              <a:defRPr sz="1800" b="1"/>
            </a:lvl3pPr>
            <a:lvl4pPr marL="1371325" indent="0">
              <a:buNone/>
              <a:defRPr sz="1600" b="1"/>
            </a:lvl4pPr>
            <a:lvl5pPr marL="1828435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0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7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1" y="1279263"/>
            <a:ext cx="4041775" cy="533135"/>
          </a:xfrm>
          <a:prstGeom prst="rect">
            <a:avLst/>
          </a:prstGeom>
        </p:spPr>
        <p:txBody>
          <a:bodyPr lIns="91421" tIns="45710" rIns="91421" bIns="45710"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8" indent="0">
              <a:buNone/>
              <a:defRPr sz="1800" b="1"/>
            </a:lvl3pPr>
            <a:lvl4pPr marL="1371325" indent="0">
              <a:buNone/>
              <a:defRPr sz="1600" b="1"/>
            </a:lvl4pPr>
            <a:lvl5pPr marL="1828435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0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7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1" y="1812396"/>
            <a:ext cx="4041775" cy="3292740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2" y="227543"/>
            <a:ext cx="3008313" cy="968375"/>
          </a:xfrm>
          <a:prstGeom prst="rect">
            <a:avLst/>
          </a:prstGeom>
        </p:spPr>
        <p:txBody>
          <a:bodyPr lIns="91421" tIns="45710" rIns="91421" bIns="45710"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2" y="1195920"/>
            <a:ext cx="3008313" cy="3909219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>
              <a:buNone/>
              <a:defRPr sz="1400"/>
            </a:lvl1pPr>
            <a:lvl2pPr marL="457109" indent="0">
              <a:buNone/>
              <a:defRPr sz="1200"/>
            </a:lvl2pPr>
            <a:lvl3pPr marL="914218" indent="0">
              <a:buNone/>
              <a:defRPr sz="1000"/>
            </a:lvl3pPr>
            <a:lvl4pPr marL="1371325" indent="0">
              <a:buNone/>
              <a:defRPr sz="900"/>
            </a:lvl4pPr>
            <a:lvl5pPr marL="1828435" indent="0">
              <a:buNone/>
              <a:defRPr sz="900"/>
            </a:lvl5pPr>
            <a:lvl6pPr marL="2285542" indent="0">
              <a:buNone/>
              <a:defRPr sz="900"/>
            </a:lvl6pPr>
            <a:lvl7pPr marL="2742650" indent="0">
              <a:buNone/>
              <a:defRPr sz="900"/>
            </a:lvl7pPr>
            <a:lvl8pPr marL="3199760" indent="0">
              <a:buNone/>
              <a:defRPr sz="900"/>
            </a:lvl8pPr>
            <a:lvl9pPr marL="365687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  <a:prstGeom prst="rect">
            <a:avLst/>
          </a:prstGeom>
        </p:spPr>
        <p:txBody>
          <a:bodyPr lIns="91421" tIns="45710" rIns="91421" bIns="45710"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>
              <a:buNone/>
              <a:defRPr sz="3200"/>
            </a:lvl1pPr>
            <a:lvl2pPr marL="457109" indent="0">
              <a:buNone/>
              <a:defRPr sz="2800"/>
            </a:lvl2pPr>
            <a:lvl3pPr marL="914218" indent="0">
              <a:buNone/>
              <a:defRPr sz="2400"/>
            </a:lvl3pPr>
            <a:lvl4pPr marL="1371325" indent="0">
              <a:buNone/>
              <a:defRPr sz="2000"/>
            </a:lvl4pPr>
            <a:lvl5pPr marL="1828435" indent="0">
              <a:buNone/>
              <a:defRPr sz="2000"/>
            </a:lvl5pPr>
            <a:lvl6pPr marL="2285542" indent="0">
              <a:buNone/>
              <a:defRPr sz="2000"/>
            </a:lvl6pPr>
            <a:lvl7pPr marL="2742650" indent="0">
              <a:buNone/>
              <a:defRPr sz="2000"/>
            </a:lvl7pPr>
            <a:lvl8pPr marL="3199760" indent="0">
              <a:buNone/>
              <a:defRPr sz="2000"/>
            </a:lvl8pPr>
            <a:lvl9pPr marL="365687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>
              <a:buNone/>
              <a:defRPr sz="1400"/>
            </a:lvl1pPr>
            <a:lvl2pPr marL="457109" indent="0">
              <a:buNone/>
              <a:defRPr sz="1200"/>
            </a:lvl2pPr>
            <a:lvl3pPr marL="914218" indent="0">
              <a:buNone/>
              <a:defRPr sz="1000"/>
            </a:lvl3pPr>
            <a:lvl4pPr marL="1371325" indent="0">
              <a:buNone/>
              <a:defRPr sz="900"/>
            </a:lvl4pPr>
            <a:lvl5pPr marL="1828435" indent="0">
              <a:buNone/>
              <a:defRPr sz="900"/>
            </a:lvl5pPr>
            <a:lvl6pPr marL="2285542" indent="0">
              <a:buNone/>
              <a:defRPr sz="900"/>
            </a:lvl6pPr>
            <a:lvl7pPr marL="2742650" indent="0">
              <a:buNone/>
              <a:defRPr sz="900"/>
            </a:lvl7pPr>
            <a:lvl8pPr marL="3199760" indent="0">
              <a:buNone/>
              <a:defRPr sz="900"/>
            </a:lvl8pPr>
            <a:lvl9pPr marL="365687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eaVert" lIns="91421" tIns="45710" rIns="91421" bIns="45710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28870"/>
            <a:ext cx="2057400" cy="4876271"/>
          </a:xfrm>
          <a:prstGeom prst="rect">
            <a:avLst/>
          </a:prstGeom>
        </p:spPr>
        <p:txBody>
          <a:bodyPr vert="eaVert"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28870"/>
            <a:ext cx="6019800" cy="4876271"/>
          </a:xfrm>
          <a:prstGeom prst="rect">
            <a:avLst/>
          </a:prstGeom>
        </p:spPr>
        <p:txBody>
          <a:bodyPr vert="eaVert" lIns="91421" tIns="45710" rIns="91421" bIns="45710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22/12/2025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1" tIns="45710" rIns="91421" bIns="45710"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 userDrawn="1"/>
        </p:nvSpPr>
        <p:spPr>
          <a:xfrm>
            <a:off x="143508" y="157200"/>
            <a:ext cx="8856984" cy="54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1" tIns="45710" rIns="91421" bIns="45710" rtlCol="0" anchor="ctr"/>
          <a:lstStyle/>
          <a:p>
            <a:pPr algn="ctr"/>
            <a:endParaRPr lang="pt-BR"/>
          </a:p>
        </p:txBody>
      </p:sp>
      <p:pic>
        <p:nvPicPr>
          <p:cNvPr id="9" name="Imagem 8" descr="simbolo.png"/>
          <p:cNvPicPr>
            <a:picLocks noChangeAspect="1"/>
          </p:cNvPicPr>
          <p:nvPr userDrawn="1"/>
        </p:nvPicPr>
        <p:blipFill>
          <a:blip r:embed="rId13" cstate="print"/>
          <a:srcRect r="50871"/>
          <a:stretch>
            <a:fillRect/>
          </a:stretch>
        </p:blipFill>
        <p:spPr>
          <a:xfrm>
            <a:off x="7850297" y="3937620"/>
            <a:ext cx="1150197" cy="1620180"/>
          </a:xfrm>
          <a:prstGeom prst="rect">
            <a:avLst/>
          </a:prstGeom>
        </p:spPr>
      </p:pic>
      <p:pic>
        <p:nvPicPr>
          <p:cNvPr id="6" name="Imagem 5" descr="Logo_Seplag2019-01.png"/>
          <p:cNvPicPr>
            <a:picLocks noChangeAspect="1"/>
          </p:cNvPicPr>
          <p:nvPr userDrawn="1"/>
        </p:nvPicPr>
        <p:blipFill>
          <a:blip r:embed="rId14" cstate="print"/>
          <a:srcRect l="7244" t="18500" r="8135" b="60080"/>
          <a:stretch>
            <a:fillRect/>
          </a:stretch>
        </p:blipFill>
        <p:spPr>
          <a:xfrm>
            <a:off x="251520" y="5063980"/>
            <a:ext cx="2376264" cy="4252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21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0" indent="-342830" algn="l" defTabSz="91421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01" indent="-285694" algn="l" defTabSz="91421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0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5" algn="l" defTabSz="91421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5" algn="l" defTabSz="91421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8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5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5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0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8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5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5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7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7092280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107506" y="1922851"/>
            <a:ext cx="6120680" cy="1077186"/>
          </a:xfrm>
          <a:prstGeom prst="rect">
            <a:avLst/>
          </a:prstGeom>
          <a:noFill/>
        </p:spPr>
        <p:txBody>
          <a:bodyPr wrap="square" lIns="91411" tIns="45704" rIns="91411" bIns="45704" rtlCol="0">
            <a:spAutoFit/>
          </a:bodyPr>
          <a:lstStyle/>
          <a:p>
            <a:r>
              <a:rPr lang="pt-BR" sz="3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COMITÊ DE ORÇAMENTO E FINANÇAS – COFIN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79514" y="3295033"/>
            <a:ext cx="2007998" cy="307748"/>
          </a:xfrm>
          <a:prstGeom prst="rect">
            <a:avLst/>
          </a:prstGeom>
          <a:noFill/>
        </p:spPr>
        <p:txBody>
          <a:bodyPr wrap="none" lIns="91414" tIns="45706" rIns="91414" bIns="45706" rtlCol="0" anchor="t">
            <a:spAutoFit/>
          </a:bodyPr>
          <a:lstStyle/>
          <a:p>
            <a:r>
              <a:rPr lang="pt-BR" sz="1400" b="1" dirty="0" smtClean="0"/>
              <a:t>22 </a:t>
            </a:r>
            <a:r>
              <a:rPr lang="pt-BR" sz="1400" b="1" dirty="0"/>
              <a:t>de dezembro de 2025</a:t>
            </a:r>
          </a:p>
        </p:txBody>
      </p:sp>
    </p:spTree>
    <p:extLst>
      <p:ext uri="{BB962C8B-B14F-4D97-AF65-F5344CB8AC3E}">
        <p14:creationId xmlns:p14="http://schemas.microsoft.com/office/powerpoint/2010/main" val="287119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2E917-322F-5C63-16E2-4F3DB348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52129C4-F409-DD2C-40B5-0428B476CBD8}"/>
              </a:ext>
            </a:extLst>
          </p:cNvPr>
          <p:cNvSpPr/>
          <p:nvPr/>
        </p:nvSpPr>
        <p:spPr>
          <a:xfrm>
            <a:off x="0" y="1777380"/>
            <a:ext cx="7116301" cy="132187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822FEF6-3761-4EF5-F058-B5136913723E}"/>
              </a:ext>
            </a:extLst>
          </p:cNvPr>
          <p:cNvSpPr txBox="1"/>
          <p:nvPr/>
        </p:nvSpPr>
        <p:spPr>
          <a:xfrm>
            <a:off x="90572" y="1911960"/>
            <a:ext cx="6120680" cy="584743"/>
          </a:xfrm>
          <a:prstGeom prst="rect">
            <a:avLst/>
          </a:prstGeom>
          <a:noFill/>
        </p:spPr>
        <p:txBody>
          <a:bodyPr wrap="square" lIns="91411" tIns="45704" rIns="91411" bIns="45704" rtlCol="0" anchor="t">
            <a:spAutoFit/>
          </a:bodyPr>
          <a:lstStyle/>
          <a:p>
            <a:r>
              <a:rPr lang="pt-BR" sz="3200" b="1">
                <a:solidFill>
                  <a:schemeClr val="bg1"/>
                </a:solidFill>
                <a:latin typeface="Arial"/>
                <a:cs typeface="Arial"/>
              </a:rPr>
              <a:t>REESTIMATIVA 2025</a:t>
            </a:r>
            <a:endParaRPr lang="pt-BR" sz="32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54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215518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– RESULTADO FISCAL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49" y="1437904"/>
            <a:ext cx="8836501" cy="17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8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A71E-5F9F-81E6-98B3-34CD527C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B09AFD5-EC6B-7B35-96F3-2636D08EF1E7}"/>
              </a:ext>
            </a:extLst>
          </p:cNvPr>
          <p:cNvCxnSpPr/>
          <p:nvPr/>
        </p:nvCxnSpPr>
        <p:spPr>
          <a:xfrm>
            <a:off x="215518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5FA4A2-B806-286A-031F-478EC467D0A5}"/>
              </a:ext>
            </a:extLst>
          </p:cNvPr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– TETO DE GASTOS</a:t>
            </a:r>
          </a:p>
        </p:txBody>
      </p:sp>
      <p:sp>
        <p:nvSpPr>
          <p:cNvPr id="8" name="CaixaDeTexto 2">
            <a:extLst>
              <a:ext uri="{FF2B5EF4-FFF2-40B4-BE49-F238E27FC236}">
                <a16:creationId xmlns:a16="http://schemas.microsoft.com/office/drawing/2014/main" id="{41C5E9ED-84D8-744E-915F-61EA35491140}"/>
              </a:ext>
            </a:extLst>
          </p:cNvPr>
          <p:cNvSpPr txBox="1"/>
          <p:nvPr/>
        </p:nvSpPr>
        <p:spPr>
          <a:xfrm>
            <a:off x="215516" y="2839286"/>
            <a:ext cx="8579080" cy="1077210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b="1"/>
              <a:t>Despesas que não se enquadram no teto: </a:t>
            </a:r>
            <a:r>
              <a:rPr lang="pt-BR" sz="1600"/>
              <a:t>serviço da dívida, transferências constitucionais aos municípios, transferências vinculadas da União, emendas federais, despesas </a:t>
            </a:r>
            <a:r>
              <a:rPr lang="pt-BR" sz="1600" err="1"/>
              <a:t>intraorçamentárias</a:t>
            </a:r>
            <a:r>
              <a:rPr lang="pt-BR" sz="1600"/>
              <a:t>, sentenças judiciais e precatórios, concessão de empréstimos e financiamentos, aquisição de títulos de capital já integralizados, aquisição de títulos de crédito.</a:t>
            </a:r>
          </a:p>
        </p:txBody>
      </p:sp>
      <p:sp>
        <p:nvSpPr>
          <p:cNvPr id="9" name="CaixaDeTexto 5">
            <a:extLst>
              <a:ext uri="{FF2B5EF4-FFF2-40B4-BE49-F238E27FC236}">
                <a16:creationId xmlns:a16="http://schemas.microsoft.com/office/drawing/2014/main" id="{819C9B61-C2DB-6069-847A-393A67BF3D76}"/>
              </a:ext>
            </a:extLst>
          </p:cNvPr>
          <p:cNvSpPr txBox="1"/>
          <p:nvPr/>
        </p:nvSpPr>
        <p:spPr>
          <a:xfrm>
            <a:off x="215516" y="4128833"/>
            <a:ext cx="7724586" cy="461657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b="1" dirty="0" err="1"/>
              <a:t>Obs</a:t>
            </a:r>
            <a:r>
              <a:rPr lang="pt-BR" sz="1200" b="1" dirty="0"/>
              <a:t>: </a:t>
            </a:r>
            <a:r>
              <a:rPr lang="pt-BR" sz="1200" dirty="0"/>
              <a:t>Despesas obrigatórias: despesas com pessoal, auxílios, serviço da dívida, outros poderes, emendas parlamentares, PASEP, precatórios, constitucionais MDE, ASPS e FAPEMIG.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16" y="931157"/>
            <a:ext cx="8746745" cy="157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5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A71E-5F9F-81E6-98B3-34CD527C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B09AFD5-EC6B-7B35-96F3-2636D08EF1E7}"/>
              </a:ext>
            </a:extLst>
          </p:cNvPr>
          <p:cNvCxnSpPr/>
          <p:nvPr/>
        </p:nvCxnSpPr>
        <p:spPr>
          <a:xfrm>
            <a:off x="215518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5FA4A2-B806-286A-031F-478EC467D0A5}"/>
              </a:ext>
            </a:extLst>
          </p:cNvPr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– TETO DE GASTOS</a:t>
            </a:r>
          </a:p>
        </p:txBody>
      </p:sp>
      <p:sp>
        <p:nvSpPr>
          <p:cNvPr id="2" name="Retângulo 1"/>
          <p:cNvSpPr/>
          <p:nvPr/>
        </p:nvSpPr>
        <p:spPr>
          <a:xfrm>
            <a:off x="341971" y="799244"/>
            <a:ext cx="8028878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855878"/>
            <a:r>
              <a:rPr lang="pt-BR" sz="1400" b="1" dirty="0"/>
              <a:t>Principais movimentações nos </a:t>
            </a:r>
            <a:r>
              <a:rPr lang="pt-BR" sz="1400" b="1" dirty="0" smtClean="0"/>
              <a:t>setores com as maiores variações Teto RRF</a:t>
            </a:r>
          </a:p>
          <a:p>
            <a:pPr algn="just" defTabSz="855878"/>
            <a:endParaRPr lang="pt-BR" sz="1300" b="1" dirty="0"/>
          </a:p>
          <a:p>
            <a:pPr marL="267335" indent="-267335" algn="just" defTabSz="855878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300" b="1" dirty="0" smtClean="0"/>
              <a:t>Agricultura:</a:t>
            </a:r>
            <a:endParaRPr lang="pt-BR" sz="1300" b="1" dirty="0">
              <a:ea typeface="Calibri"/>
              <a:cs typeface="Calibri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Calibri"/>
                <a:cs typeface="Calibri"/>
              </a:rPr>
              <a:t>93 </a:t>
            </a:r>
            <a:r>
              <a:rPr lang="pt-BR" sz="1300" dirty="0" err="1">
                <a:ea typeface="Calibri"/>
                <a:cs typeface="Calibri"/>
              </a:rPr>
              <a:t>millhões</a:t>
            </a:r>
            <a:r>
              <a:rPr lang="pt-BR" sz="1300" dirty="0">
                <a:ea typeface="Calibri"/>
                <a:cs typeface="Calibri"/>
              </a:rPr>
              <a:t> referentes aos Acordos de Brumadinho e Mariana</a:t>
            </a:r>
            <a:r>
              <a:rPr lang="pt-BR" sz="1300" dirty="0" smtClean="0">
                <a:ea typeface="+mn-lt"/>
                <a:cs typeface="+mn-lt"/>
              </a:rPr>
              <a:t>.</a:t>
            </a:r>
            <a:r>
              <a:rPr lang="pt-BR" sz="1300" dirty="0">
                <a:ea typeface="+mn-lt"/>
                <a:cs typeface="+mn-lt"/>
              </a:rPr>
              <a:t> </a:t>
            </a:r>
            <a:endParaRPr lang="pt-BR" sz="1300" dirty="0">
              <a:solidFill>
                <a:prstClr val="black"/>
              </a:solidFill>
              <a:ea typeface="Calibri"/>
              <a:cs typeface="Calibri"/>
            </a:endParaRPr>
          </a:p>
          <a:p>
            <a:pPr marL="267335" indent="-267335" algn="just" defTabSz="855878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300" b="1" dirty="0"/>
              <a:t>Desenvolvimento Econômico:</a:t>
            </a:r>
            <a:endParaRPr lang="pt-BR" sz="1300" b="1" dirty="0">
              <a:ea typeface="Calibri"/>
              <a:cs typeface="Calibri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 smtClean="0">
                <a:ea typeface="+mn-lt"/>
                <a:cs typeface="+mn-lt"/>
              </a:rPr>
              <a:t>550 </a:t>
            </a:r>
            <a:r>
              <a:rPr lang="pt-BR" sz="1300" dirty="0">
                <a:ea typeface="+mn-lt"/>
                <a:cs typeface="+mn-lt"/>
              </a:rPr>
              <a:t>milhões referentes à aplicação de recursos de capital do </a:t>
            </a:r>
            <a:r>
              <a:rPr lang="pt-BR" sz="1300" dirty="0" smtClean="0">
                <a:ea typeface="+mn-lt"/>
                <a:cs typeface="+mn-lt"/>
              </a:rPr>
              <a:t>Acordo </a:t>
            </a:r>
            <a:r>
              <a:rPr lang="pt-BR" sz="1300" dirty="0">
                <a:ea typeface="+mn-lt"/>
                <a:cs typeface="+mn-lt"/>
              </a:rPr>
              <a:t>de Reparação de </a:t>
            </a:r>
            <a:r>
              <a:rPr lang="pt-BR" sz="1300" dirty="0" smtClean="0">
                <a:ea typeface="+mn-lt"/>
                <a:cs typeface="+mn-lt"/>
              </a:rPr>
              <a:t>Brumadinho em fevereiro.</a:t>
            </a:r>
          </a:p>
          <a:p>
            <a:pPr marL="267335" indent="-267335" algn="just" defTabSz="855878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300" b="1" dirty="0" smtClean="0"/>
              <a:t>Encargos Gerais:</a:t>
            </a:r>
            <a:endParaRPr lang="pt-BR" sz="1300" b="1" dirty="0">
              <a:ea typeface="Calibri"/>
              <a:cs typeface="Calibri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Calibri"/>
                <a:cs typeface="Calibri"/>
              </a:rPr>
              <a:t>110 milhões para tarifas bancárias</a:t>
            </a:r>
            <a:r>
              <a:rPr lang="pt-BR" sz="1300" dirty="0" smtClean="0">
                <a:ea typeface="+mn-lt"/>
                <a:cs typeface="+mn-lt"/>
              </a:rPr>
              <a:t>;</a:t>
            </a:r>
            <a:endParaRPr lang="pt-BR" sz="1300" dirty="0">
              <a:ea typeface="+mn-lt"/>
              <a:cs typeface="+mn-lt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+mn-lt"/>
                <a:cs typeface="+mn-lt"/>
              </a:rPr>
              <a:t>87 milhões referente à cota parte do </a:t>
            </a:r>
            <a:r>
              <a:rPr lang="pt-BR" sz="1300" dirty="0" err="1">
                <a:ea typeface="+mn-lt"/>
                <a:cs typeface="+mn-lt"/>
              </a:rPr>
              <a:t>Fundeb</a:t>
            </a:r>
            <a:r>
              <a:rPr lang="pt-BR" sz="1300" dirty="0">
                <a:ea typeface="+mn-lt"/>
                <a:cs typeface="+mn-lt"/>
              </a:rPr>
              <a:t> relativa ao FEM; </a:t>
            </a:r>
            <a:endParaRPr lang="pt-BR" sz="1300" dirty="0" smtClean="0">
              <a:ea typeface="+mn-lt"/>
              <a:cs typeface="+mn-lt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+mn-lt"/>
                <a:cs typeface="+mn-lt"/>
              </a:rPr>
              <a:t>15 </a:t>
            </a:r>
            <a:r>
              <a:rPr lang="pt-BR" sz="1300" dirty="0" err="1">
                <a:ea typeface="+mn-lt"/>
                <a:cs typeface="+mn-lt"/>
              </a:rPr>
              <a:t>millhões</a:t>
            </a:r>
            <a:r>
              <a:rPr lang="pt-BR" sz="1300" dirty="0">
                <a:ea typeface="+mn-lt"/>
                <a:cs typeface="+mn-lt"/>
              </a:rPr>
              <a:t> para aporte de capital a </a:t>
            </a:r>
            <a:r>
              <a:rPr lang="pt-BR" sz="1300" dirty="0" smtClean="0">
                <a:ea typeface="+mn-lt"/>
                <a:cs typeface="+mn-lt"/>
              </a:rPr>
              <a:t>Empresas.</a:t>
            </a:r>
            <a:endParaRPr lang="pt-BR" sz="1300" dirty="0">
              <a:ea typeface="+mn-lt"/>
              <a:cs typeface="+mn-lt"/>
            </a:endParaRPr>
          </a:p>
          <a:p>
            <a:pPr marL="267335" indent="-267335" algn="just" defTabSz="855878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300" b="1" dirty="0" smtClean="0"/>
              <a:t>Infraestrutura:</a:t>
            </a:r>
            <a:endParaRPr lang="pt-BR" sz="1300" b="1" dirty="0">
              <a:ea typeface="Calibri"/>
              <a:cs typeface="Calibri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Calibri"/>
                <a:cs typeface="Calibri"/>
              </a:rPr>
              <a:t>198 </a:t>
            </a:r>
            <a:r>
              <a:rPr lang="pt-BR" sz="1300" dirty="0" err="1">
                <a:ea typeface="Calibri"/>
                <a:cs typeface="Calibri"/>
              </a:rPr>
              <a:t>millhões</a:t>
            </a:r>
            <a:r>
              <a:rPr lang="pt-BR" sz="1300" dirty="0">
                <a:ea typeface="Calibri"/>
                <a:cs typeface="Calibri"/>
              </a:rPr>
              <a:t> referentes aos Acordos de Brumadinho e Mariana</a:t>
            </a:r>
            <a:r>
              <a:rPr lang="pt-BR" sz="1300" dirty="0" smtClean="0">
                <a:ea typeface="+mn-lt"/>
                <a:cs typeface="+mn-lt"/>
              </a:rPr>
              <a:t>;</a:t>
            </a:r>
            <a:endParaRPr lang="pt-BR" sz="1300" dirty="0">
              <a:ea typeface="+mn-lt"/>
              <a:cs typeface="+mn-lt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+mn-lt"/>
                <a:cs typeface="+mn-lt"/>
              </a:rPr>
              <a:t>275 </a:t>
            </a:r>
            <a:r>
              <a:rPr lang="pt-BR" sz="1300" dirty="0" err="1">
                <a:ea typeface="+mn-lt"/>
                <a:cs typeface="+mn-lt"/>
              </a:rPr>
              <a:t>millhões</a:t>
            </a:r>
            <a:r>
              <a:rPr lang="pt-BR" sz="1300" dirty="0">
                <a:ea typeface="+mn-lt"/>
                <a:cs typeface="+mn-lt"/>
              </a:rPr>
              <a:t> para infraestrutura rodoviária; </a:t>
            </a: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+mn-lt"/>
                <a:cs typeface="+mn-lt"/>
              </a:rPr>
              <a:t>65 milhões para Lotes </a:t>
            </a:r>
            <a:r>
              <a:rPr lang="pt-BR" sz="1300" dirty="0" smtClean="0">
                <a:ea typeface="+mn-lt"/>
                <a:cs typeface="+mn-lt"/>
              </a:rPr>
              <a:t>Rodoviários</a:t>
            </a:r>
            <a:r>
              <a:rPr lang="pt-BR" sz="1300" dirty="0">
                <a:ea typeface="+mn-lt"/>
                <a:cs typeface="+mn-lt"/>
              </a:rPr>
              <a:t>.</a:t>
            </a:r>
            <a:endParaRPr lang="pt-BR" sz="1300" dirty="0" smtClean="0">
              <a:ea typeface="+mn-lt"/>
              <a:cs typeface="+mn-lt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+mn-lt"/>
                <a:cs typeface="+mn-lt"/>
              </a:rPr>
              <a:t>52 milhões referentes a convênios e </a:t>
            </a:r>
            <a:r>
              <a:rPr lang="pt-BR" sz="1300" dirty="0" smtClean="0">
                <a:ea typeface="+mn-lt"/>
                <a:cs typeface="+mn-lt"/>
              </a:rPr>
              <a:t>Instrumentos Congêneres.</a:t>
            </a: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BR" sz="1300" dirty="0">
              <a:ea typeface="+mn-lt"/>
              <a:cs typeface="+mn-lt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BR" sz="1300" dirty="0">
              <a:ea typeface="+mn-lt"/>
              <a:cs typeface="+mn-lt"/>
            </a:endParaRPr>
          </a:p>
          <a:p>
            <a:pPr marL="457200" lvl="1" algn="just" defTabSz="855878">
              <a:spcAft>
                <a:spcPts val="1123"/>
              </a:spcAft>
            </a:pPr>
            <a:r>
              <a:rPr lang="pt-BR" sz="1300" dirty="0">
                <a:ea typeface="+mn-lt"/>
                <a:cs typeface="+mn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6047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A71E-5F9F-81E6-98B3-34CD527C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B09AFD5-EC6B-7B35-96F3-2636D08EF1E7}"/>
              </a:ext>
            </a:extLst>
          </p:cNvPr>
          <p:cNvCxnSpPr/>
          <p:nvPr/>
        </p:nvCxnSpPr>
        <p:spPr>
          <a:xfrm>
            <a:off x="215518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5FA4A2-B806-286A-031F-478EC467D0A5}"/>
              </a:ext>
            </a:extLst>
          </p:cNvPr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– TETO DE GASTOS</a:t>
            </a:r>
          </a:p>
        </p:txBody>
      </p:sp>
      <p:sp>
        <p:nvSpPr>
          <p:cNvPr id="2" name="Retângulo 1"/>
          <p:cNvSpPr/>
          <p:nvPr/>
        </p:nvSpPr>
        <p:spPr>
          <a:xfrm>
            <a:off x="341971" y="799244"/>
            <a:ext cx="8028878" cy="2508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7335" indent="-267335" algn="just" defTabSz="855878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300" b="1" dirty="0" smtClean="0"/>
              <a:t>Outros Poderes:</a:t>
            </a:r>
            <a:endParaRPr lang="pt-BR" sz="1300" b="1" dirty="0">
              <a:ea typeface="Calibri"/>
              <a:cs typeface="Calibri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 smtClean="0">
                <a:ea typeface="Calibri"/>
                <a:cs typeface="Calibri"/>
              </a:rPr>
              <a:t>170 milhões em crédito suplementar por Lei Específica;</a:t>
            </a: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 smtClean="0">
                <a:ea typeface="Calibri"/>
                <a:cs typeface="Calibri"/>
              </a:rPr>
              <a:t>110 milhões em crédito suplementar LOA.</a:t>
            </a:r>
            <a:endParaRPr lang="pt-BR" sz="1300" b="1" dirty="0" smtClean="0">
              <a:ea typeface="+mn-lt"/>
              <a:cs typeface="+mn-lt"/>
            </a:endParaRPr>
          </a:p>
          <a:p>
            <a:pPr marL="267335" indent="-267335" algn="just" defTabSz="855878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300" b="1" dirty="0" smtClean="0"/>
              <a:t>Segurança:</a:t>
            </a:r>
            <a:endParaRPr lang="pt-BR" sz="1300" b="1" dirty="0">
              <a:ea typeface="Calibri"/>
              <a:cs typeface="Calibri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Calibri"/>
                <a:cs typeface="Calibri"/>
              </a:rPr>
              <a:t>68 milhões para devoluções referentes a contribuição patronal</a:t>
            </a:r>
            <a:r>
              <a:rPr lang="pt-BR" sz="1300" dirty="0" smtClean="0">
                <a:ea typeface="+mn-lt"/>
                <a:cs typeface="+mn-lt"/>
              </a:rPr>
              <a:t>;</a:t>
            </a:r>
            <a:r>
              <a:rPr lang="pt-BR" sz="1300" dirty="0">
                <a:ea typeface="+mn-lt"/>
                <a:cs typeface="+mn-lt"/>
              </a:rPr>
              <a:t> </a:t>
            </a: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+mn-lt"/>
                <a:cs typeface="+mn-lt"/>
              </a:rPr>
              <a:t>25 milhões para </a:t>
            </a:r>
            <a:r>
              <a:rPr lang="pt-BR" sz="1300" dirty="0" err="1" smtClean="0">
                <a:ea typeface="+mn-lt"/>
                <a:cs typeface="+mn-lt"/>
              </a:rPr>
              <a:t>Descontingenciamentos</a:t>
            </a:r>
            <a:r>
              <a:rPr lang="pt-BR" sz="1300" dirty="0" smtClean="0">
                <a:ea typeface="+mn-lt"/>
                <a:cs typeface="+mn-lt"/>
              </a:rPr>
              <a:t> </a:t>
            </a:r>
            <a:r>
              <a:rPr lang="pt-BR" sz="1300" dirty="0">
                <a:ea typeface="+mn-lt"/>
                <a:cs typeface="+mn-lt"/>
              </a:rPr>
              <a:t>de despesas de custeio;</a:t>
            </a: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+mn-lt"/>
                <a:cs typeface="+mn-lt"/>
              </a:rPr>
              <a:t>27 milhões referentes a convênios e instrumentos congêneres;</a:t>
            </a: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+mn-lt"/>
                <a:cs typeface="+mn-lt"/>
              </a:rPr>
              <a:t>711 milhões em auxílio alimentação para a Segurança em abril </a:t>
            </a:r>
            <a:r>
              <a:rPr lang="pt-BR" sz="1300" dirty="0" smtClean="0">
                <a:ea typeface="+mn-lt"/>
                <a:cs typeface="+mn-lt"/>
              </a:rPr>
              <a:t>compensados;</a:t>
            </a: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+mn-lt"/>
                <a:cs typeface="+mn-lt"/>
              </a:rPr>
              <a:t>Redução de 436 milhões nas reestimativas de despesas de pessoal e auxílios ao longo do </a:t>
            </a:r>
            <a:r>
              <a:rPr lang="pt-BR" sz="1300" dirty="0" smtClean="0">
                <a:ea typeface="+mn-lt"/>
                <a:cs typeface="+mn-lt"/>
              </a:rPr>
              <a:t>ano.</a:t>
            </a:r>
            <a:endParaRPr lang="pt-BR" sz="1300" dirty="0">
              <a:ea typeface="+mn-lt"/>
              <a:cs typeface="+mn-lt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41971" y="3488642"/>
            <a:ext cx="8028878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855878">
              <a:spcAft>
                <a:spcPts val="600"/>
              </a:spcAft>
            </a:pPr>
            <a:r>
              <a:rPr lang="pt-BR" sz="1400" b="1" dirty="0"/>
              <a:t>Contribuições para a redução do </a:t>
            </a:r>
            <a:r>
              <a:rPr lang="pt-BR" sz="1400" b="1" dirty="0" smtClean="0"/>
              <a:t>Teto RRF</a:t>
            </a:r>
            <a:endParaRPr lang="pt-BR" sz="1300" b="1" dirty="0"/>
          </a:p>
          <a:p>
            <a:pPr marL="267335" indent="-267335" algn="just" defTabSz="855878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300" dirty="0"/>
              <a:t>Não execução de aproximadamente R$ 3,3 bilhões em recursos vinculados, principalmente</a:t>
            </a:r>
            <a:r>
              <a:rPr lang="pt-BR" sz="1300" b="1" dirty="0" smtClean="0"/>
              <a:t>:</a:t>
            </a:r>
            <a:endParaRPr lang="pt-BR" sz="1300" b="1" dirty="0">
              <a:ea typeface="Calibri"/>
              <a:cs typeface="Calibri"/>
            </a:endParaRP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300" dirty="0">
                <a:ea typeface="Calibri"/>
                <a:cs typeface="Calibri"/>
              </a:rPr>
              <a:t>Não execução de cerca de R$ 1,15 bilhão na fonte 80</a:t>
            </a:r>
            <a:r>
              <a:rPr lang="pt-BR" sz="1300" dirty="0" smtClean="0">
                <a:ea typeface="Calibri"/>
                <a:cs typeface="Calibri"/>
              </a:rPr>
              <a:t>;</a:t>
            </a:r>
          </a:p>
          <a:p>
            <a:pPr marL="724535" lvl="1" indent="-267335" algn="just" defTabSz="855878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400" dirty="0"/>
              <a:t>Não execução de cerca de R$ 1,6 bilhão na fonte 95</a:t>
            </a:r>
            <a:r>
              <a:rPr lang="pt-BR" sz="1400" dirty="0" smtClean="0"/>
              <a:t>.</a:t>
            </a:r>
          </a:p>
          <a:p>
            <a:pPr marL="267335" indent="-267335" algn="just" defTabSz="855878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300" dirty="0"/>
              <a:t>Troca de fonte no valor de R$ 867 milhões na SEJUSP, em decorrência do TCT com o TJMG.</a:t>
            </a:r>
            <a:endParaRPr lang="pt-BR" sz="1300" dirty="0">
              <a:solidFill>
                <a:prstClr val="black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508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215518" y="60395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2025 - RECEITAS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D5C8B97-4908-458E-69F4-E6CE4041BD88}"/>
              </a:ext>
            </a:extLst>
          </p:cNvPr>
          <p:cNvSpPr txBox="1"/>
          <p:nvPr/>
        </p:nvSpPr>
        <p:spPr>
          <a:xfrm>
            <a:off x="7933165" y="358057"/>
            <a:ext cx="995321" cy="276991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pt-BR" sz="1200" dirty="0"/>
              <a:t>*R$ milhares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837028" y="714178"/>
            <a:ext cx="2172748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 smtClean="0"/>
              <a:t>Obs.: </a:t>
            </a:r>
          </a:p>
          <a:p>
            <a:r>
              <a:rPr lang="pt-BR" sz="1300" dirty="0" smtClean="0"/>
              <a:t>* Para as receitas estimadas pela SEF, foram considerados os valores da reestimativa, para as demais, os valores executados.</a:t>
            </a:r>
          </a:p>
          <a:p>
            <a:endParaRPr lang="pt-BR" sz="1300" dirty="0" smtClean="0"/>
          </a:p>
          <a:p>
            <a:r>
              <a:rPr lang="pt-BR" sz="1300" dirty="0" smtClean="0"/>
              <a:t>** Está em análise pela SEF a redução da estimativa de Imposto de Renda em torno de R$ 300 mi devido à mudança na tabela de arrecadação.</a:t>
            </a:r>
            <a:endParaRPr lang="pt-BR" sz="13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59" y="714179"/>
            <a:ext cx="6409715" cy="472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6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215518" y="60395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2025 - RECEITAS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D5C8B97-4908-458E-69F4-E6CE4041BD88}"/>
              </a:ext>
            </a:extLst>
          </p:cNvPr>
          <p:cNvSpPr txBox="1"/>
          <p:nvPr/>
        </p:nvSpPr>
        <p:spPr>
          <a:xfrm>
            <a:off x="7933165" y="358057"/>
            <a:ext cx="995321" cy="276991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pt-BR" sz="1200" dirty="0"/>
              <a:t>*R$ milhares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9" y="723146"/>
            <a:ext cx="8965501" cy="46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2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215518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– DESPESAS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FB8DD7-4E2F-00FB-5CBA-DD855849011C}"/>
              </a:ext>
            </a:extLst>
          </p:cNvPr>
          <p:cNvSpPr txBox="1"/>
          <p:nvPr/>
        </p:nvSpPr>
        <p:spPr>
          <a:xfrm>
            <a:off x="7933165" y="459565"/>
            <a:ext cx="995321" cy="276991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pt-BR" sz="1200"/>
              <a:t>*R$ milhares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828639" y="856791"/>
            <a:ext cx="217274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 smtClean="0"/>
              <a:t>Obs.: </a:t>
            </a:r>
          </a:p>
          <a:p>
            <a:r>
              <a:rPr lang="pt-BR" sz="1300" dirty="0" smtClean="0"/>
              <a:t>* </a:t>
            </a:r>
            <a:r>
              <a:rPr lang="pt-BR" sz="1300" dirty="0"/>
              <a:t>Para as despesas obrigatórias, </a:t>
            </a:r>
            <a:r>
              <a:rPr lang="pt-BR" sz="1300" dirty="0" smtClean="0"/>
              <a:t>foram considerados os valores da </a:t>
            </a:r>
            <a:r>
              <a:rPr lang="pt-BR" sz="1300" dirty="0"/>
              <a:t>reestimativa, para as demais, o valor empenhado.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82" y="884622"/>
            <a:ext cx="6555325" cy="410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3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215518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– DESPESAS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FB8DD7-4E2F-00FB-5CBA-DD855849011C}"/>
              </a:ext>
            </a:extLst>
          </p:cNvPr>
          <p:cNvSpPr txBox="1"/>
          <p:nvPr/>
        </p:nvSpPr>
        <p:spPr>
          <a:xfrm>
            <a:off x="7933165" y="459565"/>
            <a:ext cx="995321" cy="276991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pt-BR" sz="1200"/>
              <a:t>*R$ milhares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6" y="1146005"/>
            <a:ext cx="8917497" cy="340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9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215518" y="538641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15516" y="2468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2025 - MDE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78" y="746619"/>
            <a:ext cx="8869973" cy="40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7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215518" y="538641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15516" y="2468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2025 - MDE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13" y="1308683"/>
            <a:ext cx="6868377" cy="2014778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60131" y="3616769"/>
            <a:ext cx="80140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 smtClean="0"/>
              <a:t>Obs.: Para as despesas obrigatórias, foi considerada a reestimativa, para as demais, o valor executado (empenhado)</a:t>
            </a:r>
            <a:endParaRPr lang="pt-BR" sz="1300" dirty="0"/>
          </a:p>
        </p:txBody>
      </p:sp>
    </p:spTree>
    <p:extLst>
      <p:ext uri="{BB962C8B-B14F-4D97-AF65-F5344CB8AC3E}">
        <p14:creationId xmlns:p14="http://schemas.microsoft.com/office/powerpoint/2010/main" val="361027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215518" y="60395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2025 - ASPS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7" y="1353912"/>
            <a:ext cx="8925886" cy="285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0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215518" y="60395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2025 - ASPS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60131" y="3616769"/>
            <a:ext cx="80140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 smtClean="0"/>
              <a:t>Obs.: Para as despesas obrigatórias, foi considerada a reestimativa, para as demais, o valor executado (empenhado)</a:t>
            </a:r>
            <a:endParaRPr lang="pt-BR" sz="13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00" y="1239263"/>
            <a:ext cx="7611412" cy="211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36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215518" y="585288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15516" y="259519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pt-BR" sz="1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REESTIMATIVA 2025 - FAPEMIG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04" y="1661020"/>
            <a:ext cx="8407470" cy="225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5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7092280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100248" y="2169084"/>
            <a:ext cx="6120680" cy="584743"/>
          </a:xfrm>
          <a:prstGeom prst="rect">
            <a:avLst/>
          </a:prstGeom>
          <a:noFill/>
        </p:spPr>
        <p:txBody>
          <a:bodyPr wrap="square" lIns="91411" tIns="45704" rIns="91411" bIns="45704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PLEITOS ORÇAMENTÁRIOS</a:t>
            </a:r>
          </a:p>
        </p:txBody>
      </p:sp>
    </p:spTree>
    <p:extLst>
      <p:ext uri="{BB962C8B-B14F-4D97-AF65-F5344CB8AC3E}">
        <p14:creationId xmlns:p14="http://schemas.microsoft.com/office/powerpoint/2010/main" val="424256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9172-FC81-99EA-7747-56A6C8C3D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3ABA66C-8A03-6D1C-61BB-E43FF1276011}"/>
              </a:ext>
            </a:extLst>
          </p:cNvPr>
          <p:cNvSpPr txBox="1"/>
          <p:nvPr/>
        </p:nvSpPr>
        <p:spPr>
          <a:xfrm>
            <a:off x="226370" y="694913"/>
            <a:ext cx="8380160" cy="2495761"/>
          </a:xfrm>
          <a:prstGeom prst="rect">
            <a:avLst/>
          </a:prstGeom>
          <a:noFill/>
        </p:spPr>
        <p:txBody>
          <a:bodyPr wrap="square" lIns="71323" tIns="35662" rIns="71323" bIns="35662" rtlCol="0" anchor="t">
            <a:spAutoFit/>
          </a:bodyPr>
          <a:lstStyle/>
          <a:p>
            <a:pPr marL="267335" indent="-267335" algn="just" defTabSz="855878">
              <a:spcAft>
                <a:spcPts val="1123"/>
              </a:spcAft>
              <a:buFont typeface="Wingdings" panose="05000000000000000000" pitchFamily="2" charset="2"/>
              <a:buChar char="ü"/>
            </a:pPr>
            <a:r>
              <a:rPr lang="pt-BR" sz="1300" dirty="0"/>
              <a:t>O </a:t>
            </a:r>
            <a:r>
              <a:rPr lang="pt-BR" sz="1300" b="1" dirty="0"/>
              <a:t>CBMMG</a:t>
            </a:r>
            <a:r>
              <a:rPr lang="pt-BR" sz="1300" dirty="0"/>
              <a:t> solicita suplementação orçamentária no</a:t>
            </a:r>
            <a:r>
              <a:rPr lang="pt-BR" sz="1300" b="1" dirty="0"/>
              <a:t> valor de </a:t>
            </a:r>
            <a:r>
              <a:rPr lang="pt-BR" sz="1300" b="1" dirty="0">
                <a:ea typeface="+mn-lt"/>
                <a:cs typeface="+mn-lt"/>
              </a:rPr>
              <a:t>R$1.600.000,00</a:t>
            </a:r>
            <a:r>
              <a:rPr lang="pt-BR" sz="1300" dirty="0">
                <a:ea typeface="+mn-lt"/>
                <a:cs typeface="+mn-lt"/>
              </a:rPr>
              <a:t> para a realização de reparos emergenciais na Academia de Bombeiros Militar.</a:t>
            </a:r>
            <a:endParaRPr lang="pt-BR" sz="1300" dirty="0">
              <a:ea typeface="Calibri"/>
              <a:cs typeface="Calibri"/>
            </a:endParaRPr>
          </a:p>
          <a:p>
            <a:pPr marL="724535" lvl="1" indent="-267335" algn="just" defTabSz="855878">
              <a:spcAft>
                <a:spcPts val="1123"/>
              </a:spcAft>
              <a:buFont typeface="Wingdings" panose="05000000000000000000" pitchFamily="2" charset="2"/>
              <a:buChar char="§"/>
            </a:pPr>
            <a:r>
              <a:rPr lang="pt-BR" sz="1300" b="1" dirty="0">
                <a:ea typeface="Calibri"/>
                <a:cs typeface="Calibri"/>
              </a:rPr>
              <a:t>Justificativa:</a:t>
            </a:r>
            <a:r>
              <a:rPr lang="pt-BR" sz="1300" dirty="0">
                <a:ea typeface="Calibri"/>
                <a:cs typeface="Calibri"/>
              </a:rPr>
              <a:t> </a:t>
            </a:r>
            <a:r>
              <a:rPr lang="pt-BR" sz="1300" dirty="0">
                <a:ea typeface="+mn-lt"/>
                <a:cs typeface="+mn-lt"/>
              </a:rPr>
              <a:t>Devido às fortes chuvas que atingiram Belo Horizonte e a Região Metropolitana nos dias 12 e 13, as instalações da Academia de Bombeiros Militar sofreram danos estruturais, elétricos e hidráulicos, comprometendo a segurança e a continuidade das atividades acadêmicas. Para viabilizar reparos emergenciais e restabelecer o funcionamento da unidade, solicita-se, em caráter de urgência, suplementação. </a:t>
            </a:r>
          </a:p>
          <a:p>
            <a:pPr marL="724535" lvl="1" indent="-267335" algn="just" defTabSz="855878">
              <a:spcAft>
                <a:spcPts val="1123"/>
              </a:spcAft>
              <a:buFont typeface="Wingdings" panose="05000000000000000000" pitchFamily="2" charset="2"/>
              <a:buChar char="§"/>
            </a:pPr>
            <a:endParaRPr lang="pt-BR" sz="1300" dirty="0">
              <a:solidFill>
                <a:prstClr val="black"/>
              </a:solidFill>
              <a:ea typeface="Calibri"/>
              <a:cs typeface="Calibri"/>
            </a:endParaRPr>
          </a:p>
          <a:p>
            <a:pPr marL="267335" indent="-267335" algn="just" defTabSz="855878">
              <a:spcAft>
                <a:spcPts val="1123"/>
              </a:spcAft>
              <a:buFont typeface="Wingdings" panose="05000000000000000000" pitchFamily="2" charset="2"/>
              <a:buChar char="ü"/>
            </a:pPr>
            <a:r>
              <a:rPr lang="pt-BR" sz="1300" b="1" dirty="0">
                <a:solidFill>
                  <a:prstClr val="black"/>
                </a:solidFill>
                <a:ea typeface="Segoe UI" panose="020B0502040204020203" pitchFamily="34" charset="0"/>
                <a:cs typeface="Arial"/>
              </a:rPr>
              <a:t>Manifestação SPLOR: </a:t>
            </a:r>
            <a:r>
              <a:rPr lang="pt-BR" sz="1300" dirty="0"/>
              <a:t> Por se tratar de despesas decorrentes de eventos climáticos naturais, imprevisíveis no planejamento orçamentário, o gasto não foi previsto na LOA. Caso aprovado, o pleito implicará impacto orçamentário e financeiro, necessário para viabilizar as ações emergenciais. </a:t>
            </a:r>
            <a:endParaRPr lang="pt-BR" sz="1300" dirty="0">
              <a:ea typeface="+mn-lt"/>
              <a:cs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DE639A6-2E85-B909-72F3-BE89F13F6F9F}"/>
              </a:ext>
            </a:extLst>
          </p:cNvPr>
          <p:cNvCxnSpPr/>
          <p:nvPr/>
        </p:nvCxnSpPr>
        <p:spPr>
          <a:xfrm flipV="1">
            <a:off x="186652" y="522035"/>
            <a:ext cx="8770312" cy="168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D2A924-A559-16F7-8726-2393F7ABF8C2}"/>
              </a:ext>
            </a:extLst>
          </p:cNvPr>
          <p:cNvSpPr txBox="1"/>
          <p:nvPr/>
        </p:nvSpPr>
        <p:spPr>
          <a:xfrm>
            <a:off x="226370" y="184999"/>
            <a:ext cx="7776864" cy="302853"/>
          </a:xfrm>
          <a:prstGeom prst="rect">
            <a:avLst/>
          </a:prstGeom>
          <a:noFill/>
        </p:spPr>
        <p:txBody>
          <a:bodyPr wrap="square" lIns="71323" tIns="35662" rIns="71323" bIns="35662" rtlCol="0">
            <a:spAutoFit/>
          </a:bodyPr>
          <a:lstStyle/>
          <a:p>
            <a:pPr defTabSz="855878"/>
            <a:r>
              <a:rPr lang="pt-BR" sz="15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PLEITOS ORÇAMENTÁRIOS 2025</a:t>
            </a:r>
          </a:p>
        </p:txBody>
      </p:sp>
    </p:spTree>
    <p:extLst>
      <p:ext uri="{BB962C8B-B14F-4D97-AF65-F5344CB8AC3E}">
        <p14:creationId xmlns:p14="http://schemas.microsoft.com/office/powerpoint/2010/main" val="169476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18797" y="740752"/>
            <a:ext cx="8551594" cy="3447093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>
            <a:defPPr>
              <a:defRPr lang="pt-BR"/>
            </a:defPPr>
            <a:lvl1pPr algn="just">
              <a:spcAft>
                <a:spcPts val="400"/>
              </a:spcAft>
              <a:defRPr sz="1600"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ea typeface="+mn-lt"/>
                <a:cs typeface="+mn-lt"/>
              </a:rPr>
              <a:t>A </a:t>
            </a:r>
            <a:r>
              <a:rPr lang="pt-BR" sz="1400" b="1" dirty="0">
                <a:ea typeface="+mn-lt"/>
                <a:cs typeface="+mn-lt"/>
              </a:rPr>
              <a:t>UTRAMIG </a:t>
            </a:r>
            <a:r>
              <a:rPr lang="pt-BR" sz="1400" dirty="0">
                <a:ea typeface="+mn-lt"/>
                <a:cs typeface="+mn-lt"/>
              </a:rPr>
              <a:t>solicita suplementação orçamentária para o exercício de 2026, no valor de </a:t>
            </a:r>
            <a:r>
              <a:rPr lang="pt-BR" sz="1400" b="1" dirty="0">
                <a:ea typeface="+mn-lt"/>
                <a:cs typeface="+mn-lt"/>
              </a:rPr>
              <a:t>R$662.520,00</a:t>
            </a:r>
            <a:r>
              <a:rPr lang="pt-BR" sz="1400" dirty="0">
                <a:ea typeface="+mn-lt"/>
                <a:cs typeface="+mn-lt"/>
              </a:rPr>
              <a:t> destinada a </a:t>
            </a:r>
            <a:r>
              <a:rPr lang="pt-BR" sz="1400" b="1" dirty="0">
                <a:ea typeface="+mn-lt"/>
                <a:cs typeface="+mn-lt"/>
              </a:rPr>
              <a:t>aquisição de equipamentos de infraestrutura </a:t>
            </a:r>
            <a:r>
              <a:rPr lang="pt-BR" sz="1400" b="1" dirty="0" smtClean="0">
                <a:ea typeface="+mn-lt"/>
                <a:cs typeface="+mn-lt"/>
              </a:rPr>
              <a:t>tecnológic</a:t>
            </a:r>
            <a:r>
              <a:rPr lang="pt-BR" sz="1400" dirty="0" smtClean="0">
                <a:ea typeface="+mn-lt"/>
                <a:cs typeface="+mn-lt"/>
              </a:rPr>
              <a:t>a.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b="1" dirty="0" smtClean="0">
                <a:ea typeface="Calibri"/>
                <a:cs typeface="Calibri"/>
              </a:rPr>
              <a:t>Justificativa:</a:t>
            </a:r>
          </a:p>
          <a:p>
            <a:pPr marL="742859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ea typeface="+mn-lt"/>
                <a:cs typeface="+mn-lt"/>
              </a:rPr>
              <a:t>A </a:t>
            </a:r>
            <a:r>
              <a:rPr lang="pt-BR" sz="1400" dirty="0">
                <a:ea typeface="+mn-lt"/>
                <a:cs typeface="+mn-lt"/>
              </a:rPr>
              <a:t>demanda refere-se à aquisição de </a:t>
            </a:r>
            <a:r>
              <a:rPr lang="pt-BR" sz="1400" dirty="0" err="1">
                <a:ea typeface="+mn-lt"/>
                <a:cs typeface="+mn-lt"/>
              </a:rPr>
              <a:t>storage</a:t>
            </a:r>
            <a:r>
              <a:rPr lang="pt-BR" sz="1400" dirty="0">
                <a:ea typeface="+mn-lt"/>
                <a:cs typeface="+mn-lt"/>
              </a:rPr>
              <a:t>, switch gerenciável, solução de backup e serviços técnicos, indispensáveis para garantir a disponibilidade, segurança da informação e continuidade dos sistemas acadêmicos, administrativos e financeiros da </a:t>
            </a:r>
            <a:r>
              <a:rPr lang="pt-BR" sz="1400" dirty="0" smtClean="0">
                <a:ea typeface="+mn-lt"/>
                <a:cs typeface="+mn-lt"/>
              </a:rPr>
              <a:t>Fundação.</a:t>
            </a:r>
          </a:p>
          <a:p>
            <a:pPr marL="742859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ea typeface="+mn-lt"/>
                <a:cs typeface="+mn-lt"/>
              </a:rPr>
              <a:t>Embora </a:t>
            </a:r>
            <a:r>
              <a:rPr lang="pt-BR" sz="1400" dirty="0">
                <a:ea typeface="+mn-lt"/>
                <a:cs typeface="+mn-lt"/>
              </a:rPr>
              <a:t>prevista na OBZ 2025, a aquisição não foi concluída em razão da não finalização do procedimento licitatório no exercício. Ademais, a despesa não foi contemplada no OBZ 2026, tornando necessária a solicitação de suplementação orçamentária para viabilizar a </a:t>
            </a:r>
            <a:r>
              <a:rPr lang="pt-BR" sz="1400" dirty="0" smtClean="0">
                <a:ea typeface="+mn-lt"/>
                <a:cs typeface="+mn-lt"/>
              </a:rPr>
              <a:t>contratação.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b="1" dirty="0" smtClean="0">
                <a:ea typeface="Calibri"/>
                <a:cs typeface="Calibri"/>
              </a:rPr>
              <a:t>Manifestação </a:t>
            </a:r>
            <a:r>
              <a:rPr lang="pt-BR" sz="1400" b="1" dirty="0">
                <a:ea typeface="Calibri"/>
                <a:cs typeface="Calibri"/>
              </a:rPr>
              <a:t>SPLOR:</a:t>
            </a:r>
            <a:r>
              <a:rPr lang="pt-BR" sz="1400" dirty="0">
                <a:ea typeface="Calibri"/>
                <a:cs typeface="Calibri"/>
              </a:rPr>
              <a:t> O objeto não foi apresentado no OBZ 2026. Ressaltamos que a aprovação deste pleito gerará impactos orçamentários e </a:t>
            </a:r>
            <a:r>
              <a:rPr lang="pt-BR" sz="1400" dirty="0" smtClean="0">
                <a:ea typeface="Calibri"/>
                <a:cs typeface="Calibri"/>
              </a:rPr>
              <a:t>financeiros.</a:t>
            </a:r>
          </a:p>
          <a:p>
            <a:pPr marL="742859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ea typeface="Calibri"/>
                <a:cs typeface="Calibri"/>
              </a:rPr>
              <a:t>As </a:t>
            </a:r>
            <a:r>
              <a:rPr lang="pt-BR" sz="1400" dirty="0">
                <a:ea typeface="Calibri"/>
                <a:cs typeface="Calibri"/>
              </a:rPr>
              <a:t>despesas da </a:t>
            </a:r>
            <a:r>
              <a:rPr lang="pt-BR" sz="1400" dirty="0" err="1">
                <a:ea typeface="Calibri"/>
                <a:cs typeface="Calibri"/>
              </a:rPr>
              <a:t>Utramig</a:t>
            </a:r>
            <a:r>
              <a:rPr lang="pt-BR" sz="1400" dirty="0">
                <a:ea typeface="Calibri"/>
                <a:cs typeface="Calibri"/>
              </a:rPr>
              <a:t> são computadas no MDE</a:t>
            </a:r>
            <a:r>
              <a:rPr lang="pt-BR" sz="1400" dirty="0" smtClean="0">
                <a:ea typeface="Calibri"/>
                <a:cs typeface="Calibri"/>
              </a:rPr>
              <a:t>.</a:t>
            </a:r>
            <a:endParaRPr lang="pt-BR" sz="1400" dirty="0">
              <a:ea typeface="Calibri"/>
              <a:cs typeface="Calibri"/>
            </a:endParaRPr>
          </a:p>
        </p:txBody>
      </p:sp>
      <p:cxnSp>
        <p:nvCxnSpPr>
          <p:cNvPr id="4" name="Conector reto 3"/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PLEITOS ORÇAMENTÁRIOS 2025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605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84021" y="795871"/>
            <a:ext cx="8307273" cy="2154642"/>
          </a:xfrm>
          <a:prstGeom prst="rect">
            <a:avLst/>
          </a:prstGeom>
          <a:noFill/>
        </p:spPr>
        <p:txBody>
          <a:bodyPr wrap="square" lIns="71323" tIns="35662" rIns="71323" bIns="35662" rtlCol="0" anchor="t">
            <a:spAutoFit/>
          </a:bodyPr>
          <a:lstStyle/>
          <a:p>
            <a:pPr marL="267335" indent="-267335" algn="just" defTabSz="855878">
              <a:spcAft>
                <a:spcPts val="1123"/>
              </a:spcAft>
              <a:buFont typeface="Wingdings" panose="05000000000000000000" pitchFamily="2" charset="2"/>
              <a:buChar char="ü"/>
            </a:pPr>
            <a:r>
              <a:rPr lang="pt-BR" sz="1300" dirty="0"/>
              <a:t>A </a:t>
            </a:r>
            <a:r>
              <a:rPr lang="pt-BR" sz="1300" b="1" dirty="0"/>
              <a:t>SEJUSP</a:t>
            </a:r>
            <a:r>
              <a:rPr lang="pt-BR" sz="1300" dirty="0"/>
              <a:t> solicita aporte orçamentário no valor de </a:t>
            </a:r>
            <a:r>
              <a:rPr lang="pt-BR" sz="1300" b="1" dirty="0"/>
              <a:t>R$18.500.000,00 </a:t>
            </a:r>
            <a:r>
              <a:rPr lang="pt-BR" sz="1300" dirty="0"/>
              <a:t>para contratação da prestação de Serviços Contínuos de Bloqueio de Sinais de Radiocomunicações - BSR</a:t>
            </a:r>
          </a:p>
          <a:p>
            <a:pPr marL="742315" lvl="1" indent="-285750" algn="just" defTabSz="855878">
              <a:spcAft>
                <a:spcPts val="1123"/>
              </a:spcAft>
              <a:buFont typeface="Wingdings" panose="05000000000000000000" pitchFamily="2" charset="2"/>
              <a:buChar char="§"/>
            </a:pPr>
            <a:r>
              <a:rPr lang="pt-BR" sz="1300" b="1" dirty="0"/>
              <a:t>Justificativa:</a:t>
            </a:r>
            <a:r>
              <a:rPr lang="pt-BR" sz="1300" dirty="0"/>
              <a:t> Cumprimento de legislação (Lei nº 7.210/84 e CF/88) e garantia de maior segurança nas unidades prisionais. O BSR impede comunicações não autorizadas por detentos, bloqueando sinais de telefonia móvel, rádio e Wi-Fi, reduzindo riscos de crimes e fraudes. A solução deve incluir recursos tecnológicos, infraestrutura e manutenção para funcionamento adequado, promovendo um ambiente seguro e controlado.</a:t>
            </a:r>
            <a:endParaRPr lang="pt-BR" sz="1300" dirty="0">
              <a:solidFill>
                <a:prstClr val="black"/>
              </a:solidFill>
              <a:ea typeface="Calibri"/>
              <a:cs typeface="Arial"/>
            </a:endParaRPr>
          </a:p>
          <a:p>
            <a:pPr marL="267335" indent="-267335" algn="just" defTabSz="855878">
              <a:spcAft>
                <a:spcPts val="1123"/>
              </a:spcAft>
              <a:buFont typeface="Wingdings" panose="05000000000000000000" pitchFamily="2" charset="2"/>
              <a:buChar char="ü"/>
            </a:pPr>
            <a:r>
              <a:rPr lang="pt-BR" sz="1300" b="1" dirty="0">
                <a:solidFill>
                  <a:prstClr val="black"/>
                </a:solidFill>
                <a:ea typeface="Segoe UI" panose="020B0502040204020203" pitchFamily="34" charset="0"/>
                <a:cs typeface="Arial"/>
              </a:rPr>
              <a:t>Manifestação SPLOR</a:t>
            </a:r>
            <a:r>
              <a:rPr lang="pt-BR" sz="1300" b="1" dirty="0" smtClean="0">
                <a:solidFill>
                  <a:prstClr val="black"/>
                </a:solidFill>
                <a:ea typeface="Segoe UI" panose="020B0502040204020203" pitchFamily="34" charset="0"/>
                <a:cs typeface="Arial"/>
              </a:rPr>
              <a:t>: </a:t>
            </a:r>
            <a:r>
              <a:rPr lang="pt-BR" sz="1300" dirty="0" smtClean="0">
                <a:solidFill>
                  <a:prstClr val="black"/>
                </a:solidFill>
                <a:ea typeface="Segoe UI" panose="020B0502040204020203" pitchFamily="34" charset="0"/>
                <a:cs typeface="Arial"/>
              </a:rPr>
              <a:t>Trata-se de despesa nova, inicialmente prevista para execução com recursos do TJMG, no entanto a viabilidade da execução será com recursos do Tesouro.</a:t>
            </a:r>
            <a:endParaRPr lang="pt-BR" sz="1300" dirty="0">
              <a:solidFill>
                <a:prstClr val="black"/>
              </a:solidFill>
              <a:ea typeface="Segoe UI" panose="020B0502040204020203" pitchFamily="34" charset="0"/>
              <a:cs typeface="Arial"/>
            </a:endParaRPr>
          </a:p>
        </p:txBody>
      </p:sp>
      <p:cxnSp>
        <p:nvCxnSpPr>
          <p:cNvPr id="4" name="Conector reto 3"/>
          <p:cNvCxnSpPr/>
          <p:nvPr/>
        </p:nvCxnSpPr>
        <p:spPr>
          <a:xfrm flipV="1">
            <a:off x="186652" y="573441"/>
            <a:ext cx="8770312" cy="168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86103" y="232460"/>
            <a:ext cx="7776864" cy="302853"/>
          </a:xfrm>
          <a:prstGeom prst="rect">
            <a:avLst/>
          </a:prstGeom>
          <a:noFill/>
        </p:spPr>
        <p:txBody>
          <a:bodyPr wrap="square" lIns="71323" tIns="35662" rIns="71323" bIns="35662" rtlCol="0">
            <a:spAutoFit/>
          </a:bodyPr>
          <a:lstStyle/>
          <a:p>
            <a:pPr defTabSz="855878"/>
            <a:r>
              <a:rPr lang="pt-BR" sz="15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PLEITOS ORÇAMENTÁRIOS 2025</a:t>
            </a:r>
          </a:p>
        </p:txBody>
      </p:sp>
    </p:spTree>
    <p:extLst>
      <p:ext uri="{BB962C8B-B14F-4D97-AF65-F5344CB8AC3E}">
        <p14:creationId xmlns:p14="http://schemas.microsoft.com/office/powerpoint/2010/main" val="321545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18568" y="771602"/>
            <a:ext cx="8551594" cy="4062647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>
            <a:defPPr>
              <a:defRPr lang="pt-BR"/>
            </a:defPPr>
            <a:lvl1pPr algn="just">
              <a:spcAft>
                <a:spcPts val="400"/>
              </a:spcAft>
              <a:defRPr sz="1600"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ea typeface="+mn-lt"/>
                <a:cs typeface="+mn-lt"/>
              </a:rPr>
              <a:t>A </a:t>
            </a:r>
            <a:r>
              <a:rPr lang="pt-BR" sz="1400" b="1" dirty="0">
                <a:ea typeface="+mn-lt"/>
                <a:cs typeface="+mn-lt"/>
              </a:rPr>
              <a:t>SEINFRA </a:t>
            </a:r>
            <a:r>
              <a:rPr lang="pt-BR" sz="1400" dirty="0">
                <a:ea typeface="+mn-lt"/>
                <a:cs typeface="+mn-lt"/>
              </a:rPr>
              <a:t>solicita </a:t>
            </a:r>
            <a:r>
              <a:rPr lang="pt-BR" sz="1400" dirty="0" smtClean="0">
                <a:ea typeface="+mn-lt"/>
                <a:cs typeface="+mn-lt"/>
              </a:rPr>
              <a:t>remanejamento </a:t>
            </a:r>
            <a:r>
              <a:rPr lang="pt-BR" sz="1400" dirty="0">
                <a:ea typeface="+mn-lt"/>
                <a:cs typeface="+mn-lt"/>
              </a:rPr>
              <a:t>de </a:t>
            </a:r>
            <a:r>
              <a:rPr lang="pt-BR" sz="1400" dirty="0" smtClean="0">
                <a:ea typeface="+mn-lt"/>
                <a:cs typeface="+mn-lt"/>
              </a:rPr>
              <a:t>limite orçamentário </a:t>
            </a:r>
            <a:r>
              <a:rPr lang="pt-BR" sz="1400" dirty="0">
                <a:ea typeface="+mn-lt"/>
                <a:cs typeface="+mn-lt"/>
              </a:rPr>
              <a:t>no valor </a:t>
            </a:r>
            <a:r>
              <a:rPr lang="pt-BR" sz="1400" b="1" dirty="0">
                <a:ea typeface="+mn-lt"/>
                <a:cs typeface="+mn-lt"/>
              </a:rPr>
              <a:t>R$ 29.892.871,24 </a:t>
            </a:r>
            <a:r>
              <a:rPr lang="pt-BR" sz="1400" dirty="0">
                <a:ea typeface="+mn-lt"/>
                <a:cs typeface="+mn-lt"/>
              </a:rPr>
              <a:t>para o </a:t>
            </a:r>
            <a:r>
              <a:rPr lang="pt-BR" sz="1400" b="1" dirty="0" smtClean="0">
                <a:ea typeface="+mn-lt"/>
                <a:cs typeface="+mn-lt"/>
              </a:rPr>
              <a:t>DER.</a:t>
            </a:r>
          </a:p>
          <a:p>
            <a:pPr marL="628559" lvl="1" indent="-1714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b="1" dirty="0" smtClean="0">
                <a:ea typeface="+mn-lt"/>
                <a:cs typeface="+mn-lt"/>
              </a:rPr>
              <a:t>Justificativa</a:t>
            </a:r>
            <a:r>
              <a:rPr lang="pt-BR" sz="1400" b="1" dirty="0">
                <a:ea typeface="+mn-lt"/>
                <a:cs typeface="+mn-lt"/>
              </a:rPr>
              <a:t>: </a:t>
            </a:r>
            <a:r>
              <a:rPr lang="pt-BR" sz="1400" dirty="0">
                <a:ea typeface="+mn-lt"/>
                <a:cs typeface="+mn-lt"/>
              </a:rPr>
              <a:t>O remanejamento solicitado seria por meio de contingenciamento de crédito na SEINFRA e </a:t>
            </a:r>
            <a:r>
              <a:rPr lang="pt-BR" sz="1400" dirty="0" err="1">
                <a:ea typeface="+mn-lt"/>
                <a:cs typeface="+mn-lt"/>
              </a:rPr>
              <a:t>descontingenciamento</a:t>
            </a:r>
            <a:r>
              <a:rPr lang="pt-BR" sz="1400" dirty="0">
                <a:ea typeface="+mn-lt"/>
                <a:cs typeface="+mn-lt"/>
              </a:rPr>
              <a:t> no DER, conforme demonstrado no quadro a </a:t>
            </a:r>
            <a:r>
              <a:rPr lang="pt-BR" sz="1400" dirty="0" smtClean="0">
                <a:ea typeface="+mn-lt"/>
                <a:cs typeface="+mn-lt"/>
              </a:rPr>
              <a:t>seguir:</a:t>
            </a:r>
          </a:p>
          <a:p>
            <a:pPr marL="628559" lvl="1" indent="-1714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BR" sz="1400" dirty="0">
              <a:ea typeface="+mn-lt"/>
              <a:cs typeface="+mn-lt"/>
            </a:endParaRPr>
          </a:p>
          <a:p>
            <a:pPr marL="628559" lvl="1" indent="-1714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BR" sz="1400" dirty="0" smtClean="0">
              <a:ea typeface="+mn-lt"/>
              <a:cs typeface="+mn-lt"/>
            </a:endParaRPr>
          </a:p>
          <a:p>
            <a:pPr marL="628559" lvl="1" indent="-1714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BR" sz="1400" dirty="0">
              <a:ea typeface="+mn-lt"/>
              <a:cs typeface="+mn-lt"/>
            </a:endParaRPr>
          </a:p>
          <a:p>
            <a:pPr marL="628559" lvl="1" indent="-1714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BR" sz="1400" dirty="0" smtClean="0">
              <a:ea typeface="+mn-lt"/>
              <a:cs typeface="+mn-lt"/>
            </a:endParaRPr>
          </a:p>
          <a:p>
            <a:pPr marL="628559" lvl="1" indent="-1714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BR" sz="1400" dirty="0" smtClean="0">
              <a:ea typeface="+mn-lt"/>
              <a:cs typeface="+mn-lt"/>
            </a:endParaRPr>
          </a:p>
          <a:p>
            <a:pPr marL="628559" lvl="1" indent="-1714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BR" sz="1400" dirty="0">
              <a:ea typeface="+mn-lt"/>
              <a:cs typeface="+mn-lt"/>
            </a:endParaRPr>
          </a:p>
          <a:p>
            <a:pPr marL="628559" lvl="1" indent="-1714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BR" sz="1400" dirty="0" smtClean="0">
              <a:ea typeface="+mn-lt"/>
              <a:cs typeface="+mn-lt"/>
            </a:endParaRP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b="1" dirty="0" smtClean="0">
                <a:ea typeface="Calibri"/>
                <a:cs typeface="Calibri"/>
              </a:rPr>
              <a:t>Manifestação </a:t>
            </a:r>
            <a:r>
              <a:rPr lang="pt-BR" sz="1400" b="1" dirty="0">
                <a:ea typeface="Calibri"/>
                <a:cs typeface="Calibri"/>
              </a:rPr>
              <a:t>SPLOR:</a:t>
            </a:r>
            <a:r>
              <a:rPr lang="pt-BR" sz="1400" dirty="0">
                <a:ea typeface="Calibri"/>
                <a:cs typeface="Calibri"/>
              </a:rPr>
              <a:t> Não há óbice</a:t>
            </a:r>
            <a:r>
              <a:rPr lang="pt-BR" sz="1400" dirty="0" smtClean="0">
                <a:ea typeface="Calibri"/>
                <a:cs typeface="Calibri"/>
              </a:rPr>
              <a:t>. A </a:t>
            </a:r>
            <a:r>
              <a:rPr lang="pt-BR" sz="1400" dirty="0" err="1" smtClean="0">
                <a:ea typeface="Calibri"/>
                <a:cs typeface="Calibri"/>
              </a:rPr>
              <a:t>Seinfra</a:t>
            </a:r>
            <a:r>
              <a:rPr lang="pt-BR" sz="1400" dirty="0" smtClean="0">
                <a:ea typeface="Calibri"/>
                <a:cs typeface="Calibri"/>
              </a:rPr>
              <a:t> elencou despesas cuja execução será frustrada, dentro do limite orçamentário, para cobertura do pleito apresentado pelo DER.</a:t>
            </a:r>
            <a:endParaRPr lang="pt-BR" sz="1400" dirty="0"/>
          </a:p>
        </p:txBody>
      </p:sp>
      <p:cxnSp>
        <p:nvCxnSpPr>
          <p:cNvPr id="4" name="Conector reto 3"/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>
                <a:solidFill>
                  <a:srgbClr val="C00000"/>
                </a:solidFill>
                <a:latin typeface="Arial"/>
                <a:cs typeface="Arial"/>
              </a:rPr>
              <a:t>PLEITOS ORÇAMENTÁRIOS 2025</a:t>
            </a:r>
            <a:endParaRPr lang="pt-BR" sz="1600" b="1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 descr="Tabela&#10;&#10;O conteúdo gerado por IA pode estar incorreto.">
            <a:extLst>
              <a:ext uri="{FF2B5EF4-FFF2-40B4-BE49-F238E27FC236}">
                <a16:creationId xmlns:a16="http://schemas.microsoft.com/office/drawing/2014/main" id="{683BBDE3-728A-54D9-18C6-A46F8FB85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759" y="1730260"/>
            <a:ext cx="3279531" cy="251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67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6588224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190487" y="2130148"/>
            <a:ext cx="527163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2400" b="1" dirty="0" smtClean="0">
                <a:solidFill>
                  <a:schemeClr val="bg1"/>
                </a:solidFill>
                <a:latin typeface="Arial"/>
                <a:cs typeface="Arial"/>
              </a:rPr>
              <a:t>Captação de Recursos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410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E8621BB-F4E8-38A4-B0C2-5E160D19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B63DADD-8AEB-04FB-F56D-097F1E3D3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73" y="4668272"/>
            <a:ext cx="2550711" cy="618984"/>
          </a:xfrm>
          <a:prstGeom prst="rect">
            <a:avLst/>
          </a:prstGeom>
          <a:ln>
            <a:noFill/>
          </a:ln>
        </p:spPr>
      </p:pic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D13ABA61-F9B3-A0FB-4D4C-EEE810CE8067}"/>
              </a:ext>
            </a:extLst>
          </p:cNvPr>
          <p:cNvSpPr txBox="1"/>
          <p:nvPr/>
        </p:nvSpPr>
        <p:spPr>
          <a:xfrm>
            <a:off x="1655676" y="640205"/>
            <a:ext cx="6172200" cy="3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endParaRPr sz="2160" b="1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9FEAD08-155A-4088-9FB7-5AD9E374EE83}"/>
              </a:ext>
            </a:extLst>
          </p:cNvPr>
          <p:cNvSpPr/>
          <p:nvPr/>
        </p:nvSpPr>
        <p:spPr>
          <a:xfrm>
            <a:off x="1557519" y="1445198"/>
            <a:ext cx="6027070" cy="56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92882" indent="-124302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10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350"/>
          </a:p>
          <a:p>
            <a:pPr marL="231458" lvl="1" indent="-162877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3DE415C9-C447-1F8F-BA2B-C313A0979EE0}"/>
              </a:ext>
            </a:extLst>
          </p:cNvPr>
          <p:cNvSpPr/>
          <p:nvPr/>
        </p:nvSpPr>
        <p:spPr>
          <a:xfrm>
            <a:off x="561110" y="920989"/>
            <a:ext cx="8021782" cy="38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4" tIns="41138" rIns="82294" bIns="41138" anchor="t" anchorCtr="0">
            <a:noAutofit/>
          </a:bodyPr>
          <a:lstStyle/>
          <a:p>
            <a:pPr algn="just"/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 </a:t>
            </a:r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Fundação João Pinheiro (FJP) 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solicita a autorização para continuidade dos trâmites para celebração de instrumento e emissão de Declaração de Contrapartida junto ao Ministério da Integração e do Desenvolvimento Regional (MIDR), referente ao processo SEI nº 2060.01.0002032/2025-92.</a:t>
            </a:r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/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Objeto: 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Aprimoramento e desenvolvimento de tecnologias de gestão de dados espaciais, especialmente para a Infraestrutura Estadual de Dados Espaciais de Minas Gerais (IEDE-MG).</a:t>
            </a:r>
          </a:p>
          <a:p>
            <a:pPr lvl="2" algn="just"/>
            <a:endParaRPr lang="pt-BR" sz="97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Justificativa: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 modernização da IEDE-MG é necessária para ampliar e qualificar a disponibilização de dados geoespaciais estratégicos ao planejamento, à gestão e à avaliação de políticas públicas, assegurando melhor desempenho da plataforma, governança integrada entre órgãos estaduais, escalabilidade, sustentabilidade tecnológica e conformidade com padrões nacionais e internacionais.</a:t>
            </a:r>
            <a:endParaRPr lang="pt-BR" sz="97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lvl="2" algn="just"/>
            <a:endParaRPr lang="pt-BR" sz="97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Valor Concedente: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R$ 1.274.000,00  (98%)</a:t>
            </a:r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Valor de Contrapartida: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R$ 26.000,00 (2%)</a:t>
            </a:r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Valor Total: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R$ 1.300.000,00 (100%)</a:t>
            </a:r>
          </a:p>
          <a:p>
            <a:pPr lvl="2" algn="just"/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Impactos de manutenção futura: 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FJP informou que os custos associados à manutenção dos sistemas informatizados, bem como dos pesquisadores e técnicos responsáveis pela IEDE-MG, serão mantidos no âmbito das ações orçamentárias </a:t>
            </a:r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4254 - Manutenção da Divisão Territorial, Construção do Mapeamento de Minas Gerais e Gestão da IEDE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 </a:t>
            </a:r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4255 - Sistematização das Informações Estatísticas e Geoinformações de MG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  <a:p>
            <a:pPr lvl="2" algn="just"/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Parecer da DCGCE: Favorável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condicionado a que a FJP: (i) adeque a justificativa e os dados da proposta aos requisitos da Portaria Conjunta MGI/MF/CGU nº 28/2024; (</a:t>
            </a:r>
            <a:r>
              <a:rPr lang="pt-BR" sz="97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ii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demonstre que a nova implantação não impactará o orçamento vigente da entidade; (</a:t>
            </a:r>
            <a:r>
              <a:rPr lang="pt-BR" sz="97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iii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anexe a Declaração de Capacidade Técnica da Unidade Descentralizada; (</a:t>
            </a:r>
            <a:r>
              <a:rPr lang="pt-BR" sz="97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iv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detalhe o Cronograma Físico; (v) apresente o Termo de Referência; (vi) elabore o Plano de Sustentabilidade; e (</a:t>
            </a:r>
            <a:r>
              <a:rPr lang="pt-BR" sz="97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vii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explicite o modelo de contratação.</a:t>
            </a:r>
          </a:p>
          <a:p>
            <a:pPr algn="just"/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Parecer CETIC: Favorável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</p:txBody>
      </p:sp>
      <p:cxnSp>
        <p:nvCxnSpPr>
          <p:cNvPr id="101" name="Google Shape;101;p14">
            <a:extLst>
              <a:ext uri="{FF2B5EF4-FFF2-40B4-BE49-F238E27FC236}">
                <a16:creationId xmlns:a16="http://schemas.microsoft.com/office/drawing/2014/main" id="{FA54F5E0-C020-67AE-39D5-4A461A53B1FA}"/>
              </a:ext>
            </a:extLst>
          </p:cNvPr>
          <p:cNvCxnSpPr/>
          <p:nvPr/>
        </p:nvCxnSpPr>
        <p:spPr>
          <a:xfrm>
            <a:off x="561110" y="913284"/>
            <a:ext cx="8021782" cy="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4A4905A0-2939-B6C9-9510-02DA011CBFCA}"/>
              </a:ext>
            </a:extLst>
          </p:cNvPr>
          <p:cNvSpPr txBox="1"/>
          <p:nvPr/>
        </p:nvSpPr>
        <p:spPr>
          <a:xfrm>
            <a:off x="561109" y="567067"/>
            <a:ext cx="8021783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Convênios de Entrada</a:t>
            </a:r>
            <a:endParaRPr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890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AC143DA-2F4F-90FE-64B4-42949907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D79F80B-358B-0ADE-4A8B-D79AF2E07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73" y="4668272"/>
            <a:ext cx="2550711" cy="618984"/>
          </a:xfrm>
          <a:prstGeom prst="rect">
            <a:avLst/>
          </a:prstGeom>
          <a:ln>
            <a:noFill/>
          </a:ln>
        </p:spPr>
      </p:pic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5EC7082C-2EFE-67DF-2A6E-8A7E398566DE}"/>
              </a:ext>
            </a:extLst>
          </p:cNvPr>
          <p:cNvSpPr txBox="1"/>
          <p:nvPr/>
        </p:nvSpPr>
        <p:spPr>
          <a:xfrm>
            <a:off x="1655676" y="640205"/>
            <a:ext cx="6172200" cy="3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endParaRPr sz="2160" b="1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80FEFD77-23A6-7C2D-AC23-8D2AB8880D66}"/>
              </a:ext>
            </a:extLst>
          </p:cNvPr>
          <p:cNvSpPr/>
          <p:nvPr/>
        </p:nvSpPr>
        <p:spPr>
          <a:xfrm>
            <a:off x="1557519" y="1445198"/>
            <a:ext cx="6027070" cy="56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92882" indent="-124302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10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350"/>
          </a:p>
          <a:p>
            <a:pPr marL="231458" lvl="1" indent="-162877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3193829C-C7A8-0523-B2FC-0261DF36932A}"/>
              </a:ext>
            </a:extLst>
          </p:cNvPr>
          <p:cNvSpPr/>
          <p:nvPr/>
        </p:nvSpPr>
        <p:spPr>
          <a:xfrm>
            <a:off x="561110" y="920989"/>
            <a:ext cx="8021782" cy="38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4" tIns="41138" rIns="82294" bIns="41138" anchor="t" anchorCtr="0">
            <a:noAutofit/>
          </a:bodyPr>
          <a:lstStyle/>
          <a:p>
            <a:pPr algn="just"/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 </a:t>
            </a:r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UEMG 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solicita a autorização para continuidade dos trâmites para celebração de instrumento e emissão de Declaração de Contrapartida junto ao Fundo Nacional de Desenvolvimento da Educação (FNDE), referente ao processo SEI nº 2350.01.0008558/2025-87.</a:t>
            </a:r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/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Objeto: 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Aquisição de equipamentos para a Universidade do Estado de Minas Gerais (UEMG), nas Unidades Acadêmicas de Campanha, Ibirité, Ituiutaba, Poços de Caldas e Ubá.</a:t>
            </a:r>
          </a:p>
          <a:p>
            <a:pPr lvl="2" algn="just"/>
            <a:endParaRPr lang="pt-BR" sz="97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Justificativa: 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Melhoria da qualidade do ensino superior nas Unidades Acadêmicas de Campanha, Ibirité, Ituiutaba, Poços de Caldas e Ubá da UEMG.</a:t>
            </a:r>
          </a:p>
          <a:p>
            <a:pPr lvl="2" algn="just"/>
            <a:endParaRPr lang="pt-BR" sz="97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Valor Concedente: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R$ 550.000,00 (98,89%)</a:t>
            </a:r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Valor de Contrapartida: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R$ 6.160,38 (1,11%)</a:t>
            </a:r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Valor Total: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R$ 556.160,38 (100%)</a:t>
            </a:r>
          </a:p>
          <a:p>
            <a:pPr lvl="2" algn="just"/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Impactos de manutenção futura: 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UEMG informou que os custos de manutenção serão absorvidos pela própria Universidade, tratando-se de reforço da infraestrutura existente, sem criação de novas estruturas ou aumento relevante da complexidade operacional, não se prevendo acréscimo significativo de despesas.</a:t>
            </a:r>
          </a:p>
          <a:p>
            <a:pPr lvl="2" algn="just"/>
            <a:endParaRPr lang="pt-BR" sz="97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lvl="2"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Parecer da DCGCE: Favorável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condicionado a que a UEMG: (i) adeque o objeto da proposta; (</a:t>
            </a:r>
            <a:r>
              <a:rPr lang="pt-BR" sz="97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ii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redija a justificativa e os dados da proposta identificando cada um dos itens requeridos pela Portaria Conjunta MGI/MF/CGU nº 28/2024;</a:t>
            </a:r>
          </a:p>
          <a:p>
            <a:pPr lvl="2" algn="just"/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</a:t>
            </a:r>
            <a:r>
              <a:rPr lang="pt-BR" sz="97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iii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avalie, junto ao concedente, a necessidade de apresentação de dispensa de licenciamento ambiental; e (</a:t>
            </a:r>
            <a:r>
              <a:rPr lang="pt-BR" sz="97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iv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insira na plataforma Transferegov.br o Plano de Sustentabilidade da proposta.</a:t>
            </a:r>
          </a:p>
          <a:p>
            <a:pPr algn="just"/>
            <a:endParaRPr lang="pt-BR" sz="97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algn="just"/>
            <a:r>
              <a:rPr lang="pt-BR" sz="9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Parecer CETIC: Favorável</a:t>
            </a:r>
            <a:r>
              <a:rPr lang="pt-BR" sz="9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condicionado à observância da Nota Técnica nº 424/SEPLAG/DCGSITIC/2025 e à realização da aquisição por meio da ARP nº 209/2025 da SEPLAG, quando aplicável.</a:t>
            </a:r>
          </a:p>
        </p:txBody>
      </p:sp>
      <p:cxnSp>
        <p:nvCxnSpPr>
          <p:cNvPr id="101" name="Google Shape;101;p14">
            <a:extLst>
              <a:ext uri="{FF2B5EF4-FFF2-40B4-BE49-F238E27FC236}">
                <a16:creationId xmlns:a16="http://schemas.microsoft.com/office/drawing/2014/main" id="{540D6CDE-17B3-1843-E2F0-FF1834F4E98E}"/>
              </a:ext>
            </a:extLst>
          </p:cNvPr>
          <p:cNvCxnSpPr/>
          <p:nvPr/>
        </p:nvCxnSpPr>
        <p:spPr>
          <a:xfrm>
            <a:off x="561110" y="913284"/>
            <a:ext cx="8021782" cy="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C0CAB27D-27D2-F350-B443-C6A7A3930E8C}"/>
              </a:ext>
            </a:extLst>
          </p:cNvPr>
          <p:cNvSpPr txBox="1"/>
          <p:nvPr/>
        </p:nvSpPr>
        <p:spPr>
          <a:xfrm>
            <a:off x="561109" y="567067"/>
            <a:ext cx="8021783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Convênios de Entrada</a:t>
            </a:r>
            <a:endParaRPr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0389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1e7f20-fe0a-487d-91a9-605ac1c64acf" xsi:nil="true"/>
    <lcf76f155ced4ddcb4097134ff3c332f xmlns="6f4338ef-addb-4c87-aefe-1895241b335f">
      <Terms xmlns="http://schemas.microsoft.com/office/infopath/2007/PartnerControls"/>
    </lcf76f155ced4ddcb4097134ff3c332f>
    <SharedWithUsers xmlns="b91e7f20-fe0a-487d-91a9-605ac1c64acf">
      <UserInfo>
        <DisplayName>Túlio de Souza Gonzaga (SEPLAG)</DisplayName>
        <AccountId>19</AccountId>
        <AccountType/>
      </UserInfo>
      <UserInfo>
        <DisplayName>Jussara Guiomar F. Vilaça de Pardo</DisplayName>
        <AccountId>88</AccountId>
        <AccountType/>
      </UserInfo>
      <UserInfo>
        <DisplayName>Thomás Pereira Sá de Carvalho</DisplayName>
        <AccountId>83</AccountId>
        <AccountType/>
      </UserInfo>
      <UserInfo>
        <DisplayName>Cecilia Haddad Medeiros (SEPLAG)</DisplayName>
        <AccountId>200</AccountId>
        <AccountType/>
      </UserInfo>
      <UserInfo>
        <DisplayName>Mariana Sousa Lopes (SEPLAG)</DisplayName>
        <AccountId>85</AccountId>
        <AccountType/>
      </UserInfo>
      <UserInfo>
        <DisplayName>Barbara Mendes de Castro (SEPLAG)</DisplayName>
        <AccountId>84</AccountId>
        <AccountType/>
      </UserInfo>
      <UserInfo>
        <DisplayName>Bruno Henrique de Oliveira Rosa (SEPLAG)</DisplayName>
        <AccountId>82</AccountId>
        <AccountType/>
      </UserInfo>
      <UserInfo>
        <DisplayName>Andrea Regina Do Carmo (SEPLAG)</DisplayName>
        <AccountId>90</AccountId>
        <AccountType/>
      </UserInfo>
      <UserInfo>
        <DisplayName>Lucas José Oliveira (SEPLAG)</DisplayName>
        <AccountId>87</AccountId>
        <AccountType/>
      </UserInfo>
      <UserInfo>
        <DisplayName>Daniel Fernandes Sartori Alves</DisplayName>
        <AccountId>89</AccountId>
        <AccountType/>
      </UserInfo>
      <UserInfo>
        <DisplayName>Luciana Muller Souza Coelho (SEPLAG)</DisplayName>
        <AccountId>205</AccountId>
        <AccountType/>
      </UserInfo>
      <UserInfo>
        <DisplayName>Pedro Lucas Fonseca Braga (SEPLAG)</DisplayName>
        <AccountId>22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D58FADB61F04EBBB4F355C06EFBED" ma:contentTypeVersion="19" ma:contentTypeDescription="Crie um novo documento." ma:contentTypeScope="" ma:versionID="f297df520a56b25349a4204d59276c0a">
  <xsd:schema xmlns:xsd="http://www.w3.org/2001/XMLSchema" xmlns:xs="http://www.w3.org/2001/XMLSchema" xmlns:p="http://schemas.microsoft.com/office/2006/metadata/properties" xmlns:ns2="6f4338ef-addb-4c87-aefe-1895241b335f" xmlns:ns3="b91e7f20-fe0a-487d-91a9-605ac1c64acf" targetNamespace="http://schemas.microsoft.com/office/2006/metadata/properties" ma:root="true" ma:fieldsID="793e8dc097f46966bf7d52f3673b2be8" ns2:_="" ns3:_="">
    <xsd:import namespace="6f4338ef-addb-4c87-aefe-1895241b335f"/>
    <xsd:import namespace="b91e7f20-fe0a-487d-91a9-605ac1c64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338ef-addb-4c87-aefe-1895241b3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917d32f3-4fa4-4f5b-a8d0-62dbd3d265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e7f20-fe0a-487d-91a9-605ac1c64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8708050-f001-4dcd-9fe1-c60e835c33fc}" ma:internalName="TaxCatchAll" ma:showField="CatchAllData" ma:web="b91e7f20-fe0a-487d-91a9-605ac1c64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FA50F9-6794-4FCE-A895-BD27BAA9DCF2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b91e7f20-fe0a-487d-91a9-605ac1c64acf"/>
    <ds:schemaRef ds:uri="6f4338ef-addb-4c87-aefe-1895241b335f"/>
    <ds:schemaRef ds:uri="http://purl.org/dc/terms/"/>
    <ds:schemaRef ds:uri="http://www.w3.org/XML/1998/namespa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E826907-9001-4186-98D1-FDF9C8C1C8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591890-3E3C-42CF-9018-4DC53D7E92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4338ef-addb-4c87-aefe-1895241b335f"/>
    <ds:schemaRef ds:uri="b91e7f20-fe0a-487d-91a9-605ac1c64a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723</Words>
  <Application>Microsoft Office PowerPoint</Application>
  <PresentationFormat>Apresentação na tela (16:10)</PresentationFormat>
  <Paragraphs>166</Paragraphs>
  <Slides>23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Segoe UI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m12157996</dc:creator>
  <cp:lastModifiedBy>Pedro Lucas Fonseca Braga (SEPLAG)</cp:lastModifiedBy>
  <cp:revision>347</cp:revision>
  <cp:lastPrinted>2020-01-14T13:03:48Z</cp:lastPrinted>
  <dcterms:created xsi:type="dcterms:W3CDTF">2019-06-04T11:59:27Z</dcterms:created>
  <dcterms:modified xsi:type="dcterms:W3CDTF">2025-12-22T19:35:31Z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0x010100B08D58FADB61F04EBBB4F355C06EFBED</vt:lpwstr>
  </property>
  <property fmtid="{D5CDD505-2E9C-101B-9397-08002B2CF9AE}" pid="3" name="MediaServiceImageTags">
    <vt:lpwstr/>
  </property>
</Properties>
</file>